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2194560"/>
            <a:ext cx="10424160" cy="1737360"/>
          </a:xfrm>
          <a:prstGeom prst="rect">
            <a:avLst/>
          </a:prstGeom>
          <a:noFill/>
        </p:spPr>
        <p:txBody>
          <a:bodyPr wrap="square" anchor="t" lIns="0" rIns="0" tIns="0" bIns="0">
            <a:spAutoFit/>
          </a:bodyPr>
          <a:lstStyle/>
          <a:p>
            <a:pPr algn="l" eaLnBrk="1" hangingPunct="1">
              <a:lnSpc>
                <a:spcPct val="115000"/>
              </a:lnSpc>
              <a:spcBef>
                <a:spcPts val="0"/>
              </a:spcBef>
              <a:spcAft>
                <a:spcPts val="1200"/>
              </a:spcAft>
            </a:pPr>
            <a:r>
              <a:rPr sz="4200" b="1">
                <a:solidFill>
                  <a:srgbClr val="FFFFFF"/>
                </a:solidFill>
                <a:latin typeface="Calibri"/>
                <a:ea typeface="Yu Gothic"/>
                <a:cs typeface="Yu Gothic"/>
              </a:rPr>
              <a:t>変圧器オイル温度予測 PoC</a:t>
            </a:r>
          </a:p>
          <a:p>
            <a:pPr algn="l" eaLnBrk="1" hangingPunct="1">
              <a:lnSpc>
                <a:spcPct val="130000"/>
              </a:lnSpc>
              <a:spcBef>
                <a:spcPts val="0"/>
              </a:spcBef>
              <a:spcAft>
                <a:spcPts val="0"/>
              </a:spcAft>
            </a:pPr>
            <a:r>
              <a:rPr sz="1900" b="0">
                <a:solidFill>
                  <a:srgbClr val="CBD2D9"/>
                </a:solidFill>
                <a:latin typeface="Calibri"/>
                <a:ea typeface="Yu Gothic"/>
                <a:cs typeface="Yu Gothic"/>
              </a:rPr>
              <a:t>予測に基づく高温リスクの事前警告は、保全判断にどこまで使えるか</a:t>
            </a:r>
          </a:p>
        </p:txBody>
      </p:sp>
      <p:sp>
        <p:nvSpPr>
          <p:cNvPr id="4" name="Rectangle 3"/>
          <p:cNvSpPr/>
          <p:nvPr/>
        </p:nvSpPr>
        <p:spPr>
          <a:xfrm>
            <a:off x="566928" y="4206240"/>
            <a:ext cx="822960" cy="28575"/>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66928" y="4617720"/>
            <a:ext cx="8686800" cy="822960"/>
          </a:xfrm>
          <a:prstGeom prst="rect">
            <a:avLst/>
          </a:prstGeom>
          <a:noFill/>
        </p:spPr>
        <p:txBody>
          <a:bodyPr wrap="square" anchor="t" lIns="0" rIns="0" tIns="0" bIns="0">
            <a:spAutoFit/>
          </a:bodyPr>
          <a:lstStyle/>
          <a:p>
            <a:pPr algn="l" eaLnBrk="1" hangingPunct="1">
              <a:lnSpc>
                <a:spcPct val="130000"/>
              </a:lnSpc>
              <a:spcBef>
                <a:spcPts val="0"/>
              </a:spcBef>
              <a:spcAft>
                <a:spcPts val="500"/>
              </a:spcAft>
            </a:pPr>
            <a:r>
              <a:rPr sz="1350" b="0">
                <a:solidFill>
                  <a:srgbClr val="9AA5B1"/>
                </a:solidFill>
                <a:latin typeface="Calibri"/>
                <a:ea typeface="Yu Gothic"/>
                <a:cs typeface="Yu Gothic"/>
              </a:rPr>
              <a:t>技術検証報告 / ETT (Electricity Transformer Temperature) データセット</a:t>
            </a:r>
          </a:p>
          <a:p>
            <a:pPr algn="l" eaLnBrk="1" hangingPunct="1">
              <a:lnSpc>
                <a:spcPct val="130000"/>
              </a:lnSpc>
              <a:spcBef>
                <a:spcPts val="0"/>
              </a:spcBef>
              <a:spcAft>
                <a:spcPts val="0"/>
              </a:spcAft>
            </a:pPr>
            <a:r>
              <a:rPr sz="1350" b="0">
                <a:solidFill>
                  <a:srgbClr val="9AA5B1"/>
                </a:solidFill>
                <a:latin typeface="Calibri"/>
                <a:ea typeface="Yu Gothic"/>
                <a:cs typeface="Yu Gothic"/>
              </a:rPr>
              <a:t>2026 年 9 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602996" cy="274320"/>
          </a:xfrm>
          <a:prstGeom prst="roundRect">
            <a:avLst>
              <a:gd name="adj" fmla="val 35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150" b="1">
                <a:solidFill>
                  <a:srgbClr val="FFFFFF"/>
                </a:solidFill>
                <a:latin typeface="Calibri"/>
                <a:ea typeface="Yu Gothic"/>
                <a:cs typeface="Yu Gothic"/>
              </a:rPr>
              <a:t>結論</a:t>
            </a:r>
          </a:p>
        </p:txBody>
      </p:sp>
      <p:sp>
        <p:nvSpPr>
          <p:cNvPr id="3" name="TextBox 2"/>
          <p:cNvSpPr txBox="1"/>
          <p:nvPr/>
        </p:nvSpPr>
        <p:spPr>
          <a:xfrm>
            <a:off x="566928" y="786384"/>
            <a:ext cx="11057839" cy="67056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2200" b="1">
                <a:solidFill>
                  <a:srgbClr val="1F2933"/>
                </a:solidFill>
                <a:latin typeface="Calibri"/>
                <a:ea typeface="Yu Gothic"/>
                <a:cs typeface="Yu Gothic"/>
              </a:rPr>
              <a:t>日内変動の大きい設備では、6〜12 時間先の高温リスクを実用水準で事前警告できる</a:t>
            </a:r>
          </a:p>
        </p:txBody>
      </p:sp>
      <p:sp>
        <p:nvSpPr>
          <p:cNvPr id="4" name="TextBox 3"/>
          <p:cNvSpPr txBox="1"/>
          <p:nvPr/>
        </p:nvSpPr>
        <p:spPr>
          <a:xfrm>
            <a:off x="566928" y="1584960"/>
            <a:ext cx="11057839" cy="214630"/>
          </a:xfrm>
          <a:prstGeom prst="rect">
            <a:avLst/>
          </a:prstGeom>
          <a:noFill/>
        </p:spPr>
        <p:txBody>
          <a:bodyPr wrap="square" anchor="t" lIns="0" rIns="0" tIns="0" bIns="0">
            <a:spAutoFit/>
          </a:bodyPr>
          <a:lstStyle/>
          <a:p>
            <a:pPr algn="l" eaLnBrk="1" hangingPunct="1">
              <a:lnSpc>
                <a:spcPct val="130000"/>
              </a:lnSpc>
              <a:spcBef>
                <a:spcPts val="0"/>
              </a:spcBef>
              <a:spcAft>
                <a:spcPts val="0"/>
              </a:spcAft>
            </a:pPr>
            <a:r>
              <a:rPr sz="1300" b="0">
                <a:solidFill>
                  <a:srgbClr val="52606D"/>
                </a:solidFill>
                <a:latin typeface="Calibri"/>
                <a:ea typeface="Yu Gothic"/>
                <a:cs typeface="Yu Gothic"/>
              </a:rPr>
              <a:t>ただし価値が出る条件は設備特性に依存し、24 時間先は現行手法と差がつかない</a:t>
            </a:r>
          </a:p>
        </p:txBody>
      </p:sp>
      <p:sp>
        <p:nvSpPr>
          <p:cNvPr id="5" name="Rounded Rectangle 4"/>
          <p:cNvSpPr/>
          <p:nvPr/>
        </p:nvSpPr>
        <p:spPr>
          <a:xfrm>
            <a:off x="566928" y="2092198"/>
            <a:ext cx="2558719" cy="2612834"/>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786384" y="2311654"/>
            <a:ext cx="329184" cy="329184"/>
          </a:xfrm>
          <a:prstGeom prst="ellips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300" b="1">
                <a:solidFill>
                  <a:srgbClr val="FFFFFF"/>
                </a:solidFill>
                <a:latin typeface="Calibri"/>
                <a:ea typeface="Yu Gothic"/>
                <a:cs typeface="Yu Gothic"/>
              </a:rPr>
              <a:t>1</a:t>
            </a:r>
          </a:p>
        </p:txBody>
      </p:sp>
      <p:sp>
        <p:nvSpPr>
          <p:cNvPr id="7" name="TextBox 6"/>
          <p:cNvSpPr txBox="1"/>
          <p:nvPr/>
        </p:nvSpPr>
        <p:spPr>
          <a:xfrm>
            <a:off x="786384" y="2768854"/>
            <a:ext cx="2119807" cy="42672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1400" b="1">
                <a:solidFill>
                  <a:srgbClr val="1F2933"/>
                </a:solidFill>
                <a:latin typeface="Calibri"/>
                <a:ea typeface="Yu Gothic"/>
                <a:cs typeface="Yu Gothic"/>
              </a:rPr>
              <a:t>効果は設備で大きく異なる</a:t>
            </a:r>
          </a:p>
        </p:txBody>
      </p:sp>
      <p:sp>
        <p:nvSpPr>
          <p:cNvPr id="8" name="TextBox 7"/>
          <p:cNvSpPr txBox="1"/>
          <p:nvPr/>
        </p:nvSpPr>
        <p:spPr>
          <a:xfrm>
            <a:off x="786384" y="3287014"/>
            <a:ext cx="2119807" cy="1198562"/>
          </a:xfrm>
          <a:prstGeom prst="rect">
            <a:avLst/>
          </a:prstGeom>
          <a:noFill/>
        </p:spPr>
        <p:txBody>
          <a:bodyPr wrap="square" anchor="t" lIns="0" rIns="0" tIns="0" bIns="0">
            <a:spAutoFit/>
          </a:bodyPr>
          <a:lstStyle/>
          <a:p>
            <a:pPr algn="l" eaLnBrk="1" hangingPunct="1">
              <a:lnSpc>
                <a:spcPct val="135000"/>
              </a:lnSpc>
              <a:spcBef>
                <a:spcPts val="0"/>
              </a:spcBef>
              <a:spcAft>
                <a:spcPts val="500"/>
              </a:spcAft>
            </a:pPr>
            <a:r>
              <a:rPr sz="1250" b="0">
                <a:solidFill>
                  <a:srgbClr val="52606D"/>
                </a:solidFill>
                <a:latin typeface="Calibri"/>
                <a:ea typeface="Yu Gothic"/>
                <a:cs typeface="Yu Gothic"/>
              </a:rPr>
              <a:t>ETTh2 では 6〜12 時間先の誤差を現状比 56〜59% 削減。</a:t>
            </a:r>
          </a:p>
          <a:p>
            <a:pPr algn="l" eaLnBrk="1" hangingPunct="1">
              <a:lnSpc>
                <a:spcPct val="135000"/>
              </a:lnSpc>
              <a:spcBef>
                <a:spcPts val="0"/>
              </a:spcBef>
              <a:spcAft>
                <a:spcPts val="500"/>
              </a:spcAft>
            </a:pPr>
            <a:r>
              <a:rPr sz="1250" b="0">
                <a:solidFill>
                  <a:srgbClr val="52606D"/>
                </a:solidFill>
                <a:latin typeface="Calibri"/>
                <a:ea typeface="Yu Gothic"/>
                <a:cs typeface="Yu Gothic"/>
              </a:rPr>
              <a:t>変動の緩やかな ETTh1 では 17〜21% にとどまる。</a:t>
            </a:r>
          </a:p>
        </p:txBody>
      </p:sp>
      <p:sp>
        <p:nvSpPr>
          <p:cNvPr id="9" name="Rounded Rectangle 8"/>
          <p:cNvSpPr/>
          <p:nvPr/>
        </p:nvSpPr>
        <p:spPr>
          <a:xfrm>
            <a:off x="3399967" y="2092198"/>
            <a:ext cx="2558719" cy="2612834"/>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3619423" y="2311654"/>
            <a:ext cx="329184" cy="329184"/>
          </a:xfrm>
          <a:prstGeom prst="ellips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300" b="1">
                <a:solidFill>
                  <a:srgbClr val="FFFFFF"/>
                </a:solidFill>
                <a:latin typeface="Calibri"/>
                <a:ea typeface="Yu Gothic"/>
                <a:cs typeface="Yu Gothic"/>
              </a:rPr>
              <a:t>2</a:t>
            </a:r>
          </a:p>
        </p:txBody>
      </p:sp>
      <p:sp>
        <p:nvSpPr>
          <p:cNvPr id="11" name="TextBox 10"/>
          <p:cNvSpPr txBox="1"/>
          <p:nvPr/>
        </p:nvSpPr>
        <p:spPr>
          <a:xfrm>
            <a:off x="3619423" y="2768854"/>
            <a:ext cx="2119807" cy="42672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1400" b="1">
                <a:solidFill>
                  <a:srgbClr val="1F2933"/>
                </a:solidFill>
                <a:latin typeface="Calibri"/>
                <a:ea typeface="Yu Gothic"/>
                <a:cs typeface="Yu Gothic"/>
              </a:rPr>
              <a:t>6 時間前の警告が実用水準</a:t>
            </a:r>
          </a:p>
        </p:txBody>
      </p:sp>
      <p:sp>
        <p:nvSpPr>
          <p:cNvPr id="12" name="TextBox 11"/>
          <p:cNvSpPr txBox="1"/>
          <p:nvPr/>
        </p:nvSpPr>
        <p:spPr>
          <a:xfrm>
            <a:off x="3619423" y="3287014"/>
            <a:ext cx="2119807" cy="1198562"/>
          </a:xfrm>
          <a:prstGeom prst="rect">
            <a:avLst/>
          </a:prstGeom>
          <a:noFill/>
        </p:spPr>
        <p:txBody>
          <a:bodyPr wrap="square" anchor="t" lIns="0" rIns="0" tIns="0" bIns="0">
            <a:spAutoFit/>
          </a:bodyPr>
          <a:lstStyle/>
          <a:p>
            <a:pPr algn="l" eaLnBrk="1" hangingPunct="1">
              <a:lnSpc>
                <a:spcPct val="135000"/>
              </a:lnSpc>
              <a:spcBef>
                <a:spcPts val="0"/>
              </a:spcBef>
              <a:spcAft>
                <a:spcPts val="500"/>
              </a:spcAft>
            </a:pPr>
            <a:r>
              <a:rPr sz="1250" b="0">
                <a:solidFill>
                  <a:srgbClr val="52606D"/>
                </a:solidFill>
                <a:latin typeface="Calibri"/>
                <a:ea typeface="Yu Gothic"/>
                <a:cs typeface="Yu Gothic"/>
              </a:rPr>
              <a:t>45°C 超過を検知率 78% / 適合率 85% で事前警告(現状相当は 42% / 43%)。</a:t>
            </a:r>
          </a:p>
          <a:p>
            <a:pPr algn="l" eaLnBrk="1" hangingPunct="1">
              <a:lnSpc>
                <a:spcPct val="135000"/>
              </a:lnSpc>
              <a:spcBef>
                <a:spcPts val="0"/>
              </a:spcBef>
              <a:spcAft>
                <a:spcPts val="500"/>
              </a:spcAft>
            </a:pPr>
            <a:r>
              <a:rPr sz="1250" b="0">
                <a:solidFill>
                  <a:srgbClr val="52606D"/>
                </a:solidFill>
                <a:latin typeface="Calibri"/>
                <a:ea typeface="Yu Gothic"/>
                <a:cs typeface="Yu Gothic"/>
              </a:rPr>
              <a:t>+5°C 急上昇も 79% を検知。</a:t>
            </a:r>
          </a:p>
        </p:txBody>
      </p:sp>
      <p:sp>
        <p:nvSpPr>
          <p:cNvPr id="13" name="Rounded Rectangle 12"/>
          <p:cNvSpPr/>
          <p:nvPr/>
        </p:nvSpPr>
        <p:spPr>
          <a:xfrm>
            <a:off x="6233007" y="2092198"/>
            <a:ext cx="2558719" cy="2612834"/>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6452463" y="2311654"/>
            <a:ext cx="329184" cy="329184"/>
          </a:xfrm>
          <a:prstGeom prst="ellips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300" b="1">
                <a:solidFill>
                  <a:srgbClr val="FFFFFF"/>
                </a:solidFill>
                <a:latin typeface="Calibri"/>
                <a:ea typeface="Yu Gothic"/>
                <a:cs typeface="Yu Gothic"/>
              </a:rPr>
              <a:t>3</a:t>
            </a:r>
          </a:p>
        </p:txBody>
      </p:sp>
      <p:sp>
        <p:nvSpPr>
          <p:cNvPr id="15" name="TextBox 14"/>
          <p:cNvSpPr txBox="1"/>
          <p:nvPr/>
        </p:nvSpPr>
        <p:spPr>
          <a:xfrm>
            <a:off x="6452463" y="2768854"/>
            <a:ext cx="2119807" cy="42672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1400" b="1">
                <a:solidFill>
                  <a:srgbClr val="1F2933"/>
                </a:solidFill>
                <a:latin typeface="Calibri"/>
                <a:ea typeface="Yu Gothic"/>
                <a:cs typeface="Yu Gothic"/>
              </a:rPr>
              <a:t>24 時間先は予測できない</a:t>
            </a:r>
          </a:p>
        </p:txBody>
      </p:sp>
      <p:sp>
        <p:nvSpPr>
          <p:cNvPr id="16" name="TextBox 15"/>
          <p:cNvSpPr txBox="1"/>
          <p:nvPr/>
        </p:nvSpPr>
        <p:spPr>
          <a:xfrm>
            <a:off x="6452463" y="3287014"/>
            <a:ext cx="2119807" cy="1198562"/>
          </a:xfrm>
          <a:prstGeom prst="rect">
            <a:avLst/>
          </a:prstGeom>
          <a:noFill/>
        </p:spPr>
        <p:txBody>
          <a:bodyPr wrap="square" anchor="t" lIns="0" rIns="0" tIns="0" bIns="0">
            <a:spAutoFit/>
          </a:bodyPr>
          <a:lstStyle/>
          <a:p>
            <a:pPr algn="l" eaLnBrk="1" hangingPunct="1">
              <a:lnSpc>
                <a:spcPct val="135000"/>
              </a:lnSpc>
              <a:spcBef>
                <a:spcPts val="0"/>
              </a:spcBef>
              <a:spcAft>
                <a:spcPts val="500"/>
              </a:spcAft>
            </a:pPr>
            <a:r>
              <a:rPr sz="1250" b="0">
                <a:solidFill>
                  <a:srgbClr val="52606D"/>
                </a:solidFill>
                <a:latin typeface="Calibri"/>
                <a:ea typeface="Yu Gothic"/>
                <a:cs typeface="Yu Gothic"/>
              </a:rPr>
              <a:t>どのモデルも現状相当と同等。</a:t>
            </a:r>
          </a:p>
          <a:p>
            <a:pPr algn="l" eaLnBrk="1" hangingPunct="1">
              <a:lnSpc>
                <a:spcPct val="135000"/>
              </a:lnSpc>
              <a:spcBef>
                <a:spcPts val="0"/>
              </a:spcBef>
              <a:spcAft>
                <a:spcPts val="500"/>
              </a:spcAft>
            </a:pPr>
            <a:r>
              <a:rPr sz="1250" b="0">
                <a:solidFill>
                  <a:srgbClr val="52606D"/>
                </a:solidFill>
                <a:latin typeface="Calibri"/>
                <a:ea typeface="Yu Gothic"/>
                <a:cs typeface="Yu Gothic"/>
              </a:rPr>
              <a:t>外気温など外部データなしには 1 日先の温度は決まらない。</a:t>
            </a:r>
          </a:p>
        </p:txBody>
      </p:sp>
      <p:sp>
        <p:nvSpPr>
          <p:cNvPr id="17" name="Rounded Rectangle 16"/>
          <p:cNvSpPr/>
          <p:nvPr/>
        </p:nvSpPr>
        <p:spPr>
          <a:xfrm>
            <a:off x="9066047" y="2092198"/>
            <a:ext cx="2558719" cy="2612834"/>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9285503" y="2311654"/>
            <a:ext cx="329184" cy="329184"/>
          </a:xfrm>
          <a:prstGeom prst="ellips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300" b="1">
                <a:solidFill>
                  <a:srgbClr val="FFFFFF"/>
                </a:solidFill>
                <a:latin typeface="Calibri"/>
                <a:ea typeface="Yu Gothic"/>
                <a:cs typeface="Yu Gothic"/>
              </a:rPr>
              <a:t>4</a:t>
            </a:r>
          </a:p>
        </p:txBody>
      </p:sp>
      <p:sp>
        <p:nvSpPr>
          <p:cNvPr id="19" name="TextBox 18"/>
          <p:cNvSpPr txBox="1"/>
          <p:nvPr/>
        </p:nvSpPr>
        <p:spPr>
          <a:xfrm>
            <a:off x="9285503" y="2768854"/>
            <a:ext cx="2119807" cy="21336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1400" b="1">
                <a:solidFill>
                  <a:srgbClr val="1F2933"/>
                </a:solidFill>
                <a:latin typeface="Calibri"/>
                <a:ea typeface="Yu Gothic"/>
                <a:cs typeface="Yu Gothic"/>
              </a:rPr>
              <a:t>負荷の寄与は限定的</a:t>
            </a:r>
          </a:p>
        </p:txBody>
      </p:sp>
      <p:sp>
        <p:nvSpPr>
          <p:cNvPr id="20" name="TextBox 19"/>
          <p:cNvSpPr txBox="1"/>
          <p:nvPr/>
        </p:nvSpPr>
        <p:spPr>
          <a:xfrm>
            <a:off x="9285503" y="3073654"/>
            <a:ext cx="2119807" cy="1198562"/>
          </a:xfrm>
          <a:prstGeom prst="rect">
            <a:avLst/>
          </a:prstGeom>
          <a:noFill/>
        </p:spPr>
        <p:txBody>
          <a:bodyPr wrap="square" anchor="t" lIns="0" rIns="0" tIns="0" bIns="0">
            <a:spAutoFit/>
          </a:bodyPr>
          <a:lstStyle/>
          <a:p>
            <a:pPr algn="l" eaLnBrk="1" hangingPunct="1">
              <a:lnSpc>
                <a:spcPct val="135000"/>
              </a:lnSpc>
              <a:spcBef>
                <a:spcPts val="0"/>
              </a:spcBef>
              <a:spcAft>
                <a:spcPts val="500"/>
              </a:spcAft>
            </a:pPr>
            <a:r>
              <a:rPr sz="1250" b="0">
                <a:solidFill>
                  <a:srgbClr val="52606D"/>
                </a:solidFill>
                <a:latin typeface="Calibri"/>
                <a:ea typeface="Yu Gothic"/>
                <a:cs typeface="Yu Gothic"/>
              </a:rPr>
              <a:t>負荷ラグの有無で精度はほぼ不変。</a:t>
            </a:r>
          </a:p>
          <a:p>
            <a:pPr algn="l" eaLnBrk="1" hangingPunct="1">
              <a:lnSpc>
                <a:spcPct val="135000"/>
              </a:lnSpc>
              <a:spcBef>
                <a:spcPts val="0"/>
              </a:spcBef>
              <a:spcAft>
                <a:spcPts val="500"/>
              </a:spcAft>
            </a:pPr>
            <a:r>
              <a:rPr sz="1250" b="0">
                <a:solidFill>
                  <a:srgbClr val="52606D"/>
                </a:solidFill>
                <a:latin typeface="Calibri"/>
                <a:ea typeface="Yu Gothic"/>
                <a:cs typeface="Yu Gothic"/>
              </a:rPr>
              <a:t>未来の負荷を与えても改善せず、温度履歴と日内周期が予測を支える。</a:t>
            </a:r>
          </a:p>
        </p:txBody>
      </p:sp>
      <p:sp>
        <p:nvSpPr>
          <p:cNvPr id="21" name="TextBox 20"/>
          <p:cNvSpPr txBox="1"/>
          <p:nvPr/>
        </p:nvSpPr>
        <p:spPr>
          <a:xfrm>
            <a:off x="566928" y="5089080"/>
            <a:ext cx="11057839" cy="596899"/>
          </a:xfrm>
          <a:prstGeom prst="rect">
            <a:avLst/>
          </a:prstGeom>
          <a:noFill/>
        </p:spPr>
        <p:txBody>
          <a:bodyPr wrap="square" anchor="t" lIns="0" rIns="0" tIns="0" bIns="0">
            <a:spAutoFit/>
          </a:bodyPr>
          <a:lstStyle/>
          <a:p>
            <a:pPr algn="l" eaLnBrk="1" hangingPunct="1">
              <a:lnSpc>
                <a:spcPct val="130000"/>
              </a:lnSpc>
              <a:spcBef>
                <a:spcPts val="0"/>
              </a:spcBef>
              <a:spcAft>
                <a:spcPts val="800"/>
              </a:spcAft>
            </a:pPr>
            <a:r>
              <a:rPr sz="1500" b="1">
                <a:solidFill>
                  <a:srgbClr val="1F2933"/>
                </a:solidFill>
                <a:latin typeface="Calibri"/>
                <a:ea typeface="Yu Gothic"/>
                <a:cs typeface="Yu Gothic"/>
              </a:rPr>
              <a:t>提言:まず ETTh2 型(日内変動が大きく高温域に達する)設備を対象に、6 時間先予測を既存の閾値監視に併設する形で試験導入することを推奨する。</a:t>
            </a:r>
          </a:p>
        </p:txBody>
      </p:sp>
      <p:sp>
        <p:nvSpPr>
          <p:cNvPr id="22" name="TextBox 21"/>
          <p:cNvSpPr txBox="1"/>
          <p:nvPr/>
        </p:nvSpPr>
        <p:spPr>
          <a:xfrm>
            <a:off x="566928" y="5795707"/>
            <a:ext cx="11057839" cy="286385"/>
          </a:xfrm>
          <a:prstGeom prst="rect">
            <a:avLst/>
          </a:prstGeom>
          <a:noFill/>
        </p:spPr>
        <p:txBody>
          <a:bodyPr wrap="square" anchor="t" lIns="0" rIns="0" tIns="0" bIns="0">
            <a:spAutoFit/>
          </a:bodyPr>
          <a:lstStyle/>
          <a:p>
            <a:pPr algn="l" eaLnBrk="1" hangingPunct="1">
              <a:lnSpc>
                <a:spcPct val="130000"/>
              </a:lnSpc>
              <a:spcBef>
                <a:spcPts val="0"/>
              </a:spcBef>
              <a:spcAft>
                <a:spcPts val="500"/>
              </a:spcAft>
            </a:pPr>
            <a:r>
              <a:rPr sz="1350" b="0">
                <a:solidFill>
                  <a:srgbClr val="52606D"/>
                </a:solidFill>
                <a:latin typeface="Calibri"/>
                <a:ea typeface="Yu Gothic"/>
                <a:cs typeface="Yu Gothic"/>
              </a:rPr>
              <a:t>ETTh1 型の設備では、予測モデルの導入よりもデータ品質の是正(欠測・前方補完の解消)を優先した方が費用対効果が高い。</a:t>
            </a:r>
          </a:p>
        </p:txBody>
      </p:sp>
      <p:sp>
        <p:nvSpPr>
          <p:cNvPr id="23" name="TextBox 22"/>
          <p:cNvSpPr txBox="1"/>
          <p:nvPr/>
        </p:nvSpPr>
        <p:spPr>
          <a:xfrm>
            <a:off x="566928" y="6228396"/>
            <a:ext cx="11057839" cy="166687"/>
          </a:xfrm>
          <a:prstGeom prst="rect">
            <a:avLst/>
          </a:prstGeom>
          <a:noFill/>
        </p:spPr>
        <p:txBody>
          <a:bodyPr wrap="square" anchor="t" lIns="0" rIns="0" tIns="0" bIns="0">
            <a:spAutoFit/>
          </a:bodyPr>
          <a:lstStyle/>
          <a:p>
            <a:pPr algn="l" eaLnBrk="1" hangingPunct="1">
              <a:lnSpc>
                <a:spcPct val="125000"/>
              </a:lnSpc>
              <a:spcBef>
                <a:spcPts val="0"/>
              </a:spcBef>
              <a:spcAft>
                <a:spcPts val="0"/>
              </a:spcAft>
            </a:pPr>
            <a:r>
              <a:rPr sz="1050" b="0">
                <a:solidFill>
                  <a:srgbClr val="52606D"/>
                </a:solidFill>
                <a:latin typeface="Calibri"/>
                <a:ea typeface="Yu Gothic"/>
                <a:cs typeface="Yu Gothic"/>
              </a:rPr>
              <a:t>評価期間: 2017 年 7 月〜2018 年 6 月の 12 ヶ月。各月について、その月より前の全データで再学習するローリング検証。</a:t>
            </a:r>
          </a:p>
        </p:txBody>
      </p:sp>
      <p:sp>
        <p:nvSpPr>
          <p:cNvPr id="24" name="TextBox 23"/>
          <p:cNvSpPr txBox="1"/>
          <p:nvPr/>
        </p:nvSpPr>
        <p:spPr>
          <a:xfrm>
            <a:off x="11076127" y="6473952"/>
            <a:ext cx="548640" cy="219456"/>
          </a:xfrm>
          <a:prstGeom prst="rect">
            <a:avLst/>
          </a:prstGeom>
          <a:noFill/>
        </p:spPr>
        <p:txBody>
          <a:bodyPr wrap="square" anchor="t" lIns="0" rIns="0" tIns="0" bIns="0">
            <a:spAutoFit/>
          </a:bodyPr>
          <a:lstStyle/>
          <a:p>
            <a:pPr algn="r" eaLnBrk="1" hangingPunct="1">
              <a:lnSpc>
                <a:spcPct val="130000"/>
              </a:lnSpc>
              <a:spcBef>
                <a:spcPts val="0"/>
              </a:spcBef>
              <a:spcAft>
                <a:spcPts val="0"/>
              </a:spcAft>
            </a:pPr>
            <a:r>
              <a:rPr sz="1000" b="0">
                <a:solidFill>
                  <a:srgbClr val="9AA5B1"/>
                </a:solidFill>
                <a:latin typeface="Calibri"/>
                <a:ea typeface="Yu Gothic"/>
                <a:cs typeface="Yu Gothic"/>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895096" cy="274320"/>
          </a:xfrm>
          <a:prstGeom prst="roundRect">
            <a:avLst>
              <a:gd name="adj" fmla="val 35000"/>
            </a:avLst>
          </a:prstGeom>
          <a:solidFill>
            <a:srgbClr val="2F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150" b="1">
                <a:solidFill>
                  <a:srgbClr val="FFFFFF"/>
                </a:solidFill>
                <a:latin typeface="Calibri"/>
                <a:ea typeface="Yu Gothic"/>
                <a:cs typeface="Yu Gothic"/>
              </a:rPr>
              <a:t>検証設計</a:t>
            </a:r>
          </a:p>
        </p:txBody>
      </p:sp>
      <p:sp>
        <p:nvSpPr>
          <p:cNvPr id="3" name="TextBox 2"/>
          <p:cNvSpPr txBox="1"/>
          <p:nvPr/>
        </p:nvSpPr>
        <p:spPr>
          <a:xfrm>
            <a:off x="566928" y="786384"/>
            <a:ext cx="11057839" cy="33528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2200" b="1">
                <a:solidFill>
                  <a:srgbClr val="1F2933"/>
                </a:solidFill>
                <a:latin typeface="Calibri"/>
                <a:ea typeface="Yu Gothic"/>
                <a:cs typeface="Yu Gothic"/>
              </a:rPr>
              <a:t>「何時間先の温度を、どの判断に使うか」を定義してから評価指標を設計した</a:t>
            </a:r>
          </a:p>
        </p:txBody>
      </p:sp>
      <p:sp>
        <p:nvSpPr>
          <p:cNvPr id="4" name="TextBox 3"/>
          <p:cNvSpPr txBox="1"/>
          <p:nvPr/>
        </p:nvSpPr>
        <p:spPr>
          <a:xfrm>
            <a:off x="566928" y="1249680"/>
            <a:ext cx="11057839" cy="214630"/>
          </a:xfrm>
          <a:prstGeom prst="rect">
            <a:avLst/>
          </a:prstGeom>
          <a:noFill/>
        </p:spPr>
        <p:txBody>
          <a:bodyPr wrap="square" anchor="t" lIns="0" rIns="0" tIns="0" bIns="0">
            <a:spAutoFit/>
          </a:bodyPr>
          <a:lstStyle/>
          <a:p>
            <a:pPr algn="l" eaLnBrk="1" hangingPunct="1">
              <a:lnSpc>
                <a:spcPct val="130000"/>
              </a:lnSpc>
              <a:spcBef>
                <a:spcPts val="0"/>
              </a:spcBef>
              <a:spcAft>
                <a:spcPts val="0"/>
              </a:spcAft>
            </a:pPr>
            <a:r>
              <a:rPr sz="1300" b="0">
                <a:solidFill>
                  <a:srgbClr val="52606D"/>
                </a:solidFill>
                <a:latin typeface="Calibri"/>
                <a:ea typeface="Yu Gothic"/>
                <a:cs typeface="Yu Gothic"/>
              </a:rPr>
              <a:t>精度指標だけでは「運用に価値が出るか」に答えられないため、業務指標を併設した</a:t>
            </a:r>
          </a:p>
        </p:txBody>
      </p:sp>
      <p:sp>
        <p:nvSpPr>
          <p:cNvPr id="5" name="TextBox 4"/>
          <p:cNvSpPr txBox="1"/>
          <p:nvPr/>
        </p:nvSpPr>
        <p:spPr>
          <a:xfrm>
            <a:off x="566928" y="1756918"/>
            <a:ext cx="5852160" cy="247649"/>
          </a:xfrm>
          <a:prstGeom prst="rect">
            <a:avLst/>
          </a:prstGeom>
          <a:noFill/>
        </p:spPr>
        <p:txBody>
          <a:bodyPr wrap="square" anchor="t" lIns="0" rIns="0" tIns="0" bIns="0">
            <a:spAutoFit/>
          </a:bodyPr>
          <a:lstStyle/>
          <a:p>
            <a:pPr algn="l" eaLnBrk="1" hangingPunct="1">
              <a:lnSpc>
                <a:spcPct val="130000"/>
              </a:lnSpc>
              <a:spcBef>
                <a:spcPts val="0"/>
              </a:spcBef>
              <a:spcAft>
                <a:spcPts val="0"/>
              </a:spcAft>
            </a:pPr>
            <a:r>
              <a:rPr sz="1500" b="0">
                <a:solidFill>
                  <a:srgbClr val="1F2933"/>
                </a:solidFill>
                <a:latin typeface="Calibri"/>
                <a:ea typeface="Yu Gothic"/>
                <a:cs typeface="Yu Gothic"/>
              </a:rPr>
              <a:t>ユースケース定義</a:t>
            </a:r>
          </a:p>
        </p:txBody>
      </p:sp>
      <p:sp>
        <p:nvSpPr>
          <p:cNvPr id="6" name="TextBox 5"/>
          <p:cNvSpPr txBox="1"/>
          <p:nvPr/>
        </p:nvSpPr>
        <p:spPr>
          <a:xfrm>
            <a:off x="603504" y="2140966"/>
            <a:ext cx="1565452" cy="457200"/>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1">
                <a:solidFill>
                  <a:srgbClr val="52606D"/>
                </a:solidFill>
                <a:latin typeface="Calibri"/>
                <a:ea typeface="Yu Gothic"/>
                <a:cs typeface="Yu Gothic"/>
              </a:rPr>
              <a:t>予測ホライズン</a:t>
            </a:r>
          </a:p>
        </p:txBody>
      </p:sp>
      <p:sp>
        <p:nvSpPr>
          <p:cNvPr id="7" name="TextBox 6"/>
          <p:cNvSpPr txBox="1"/>
          <p:nvPr/>
        </p:nvSpPr>
        <p:spPr>
          <a:xfrm>
            <a:off x="2242108" y="2140966"/>
            <a:ext cx="2092147" cy="457200"/>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1">
                <a:solidFill>
                  <a:srgbClr val="52606D"/>
                </a:solidFill>
                <a:latin typeface="Calibri"/>
                <a:ea typeface="Yu Gothic"/>
                <a:cs typeface="Yu Gothic"/>
              </a:rPr>
              <a:t>運用上の問い</a:t>
            </a:r>
          </a:p>
        </p:txBody>
      </p:sp>
      <p:sp>
        <p:nvSpPr>
          <p:cNvPr id="8" name="TextBox 7"/>
          <p:cNvSpPr txBox="1"/>
          <p:nvPr/>
        </p:nvSpPr>
        <p:spPr>
          <a:xfrm>
            <a:off x="4407407" y="2140966"/>
            <a:ext cx="1975103" cy="457200"/>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1">
                <a:solidFill>
                  <a:srgbClr val="52606D"/>
                </a:solidFill>
                <a:latin typeface="Calibri"/>
                <a:ea typeface="Yu Gothic"/>
                <a:cs typeface="Yu Gothic"/>
              </a:rPr>
              <a:t>想定アクション</a:t>
            </a:r>
          </a:p>
        </p:txBody>
      </p:sp>
      <p:sp>
        <p:nvSpPr>
          <p:cNvPr id="9" name="Rectangle 8"/>
          <p:cNvSpPr/>
          <p:nvPr/>
        </p:nvSpPr>
        <p:spPr>
          <a:xfrm>
            <a:off x="566928" y="2570734"/>
            <a:ext cx="5852160" cy="9525"/>
          </a:xfrm>
          <a:prstGeom prst="rect">
            <a:avLst/>
          </a:prstGeom>
          <a:solidFill>
            <a:srgbClr val="D7DD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03504" y="2598166"/>
            <a:ext cx="1565452" cy="457200"/>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1〜3 時間先</a:t>
            </a:r>
          </a:p>
        </p:txBody>
      </p:sp>
      <p:sp>
        <p:nvSpPr>
          <p:cNvPr id="11" name="TextBox 10"/>
          <p:cNvSpPr txBox="1"/>
          <p:nvPr/>
        </p:nvSpPr>
        <p:spPr>
          <a:xfrm>
            <a:off x="2242108" y="2598166"/>
            <a:ext cx="2092147" cy="457200"/>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いま負荷を上げてよいか</a:t>
            </a:r>
          </a:p>
        </p:txBody>
      </p:sp>
      <p:sp>
        <p:nvSpPr>
          <p:cNvPr id="12" name="TextBox 11"/>
          <p:cNvSpPr txBox="1"/>
          <p:nvPr/>
        </p:nvSpPr>
        <p:spPr>
          <a:xfrm>
            <a:off x="4407407" y="2598166"/>
            <a:ext cx="1975103" cy="457200"/>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負荷配分の調整</a:t>
            </a:r>
          </a:p>
        </p:txBody>
      </p:sp>
      <p:sp>
        <p:nvSpPr>
          <p:cNvPr id="13" name="TextBox 12"/>
          <p:cNvSpPr txBox="1"/>
          <p:nvPr/>
        </p:nvSpPr>
        <p:spPr>
          <a:xfrm>
            <a:off x="603504" y="3055366"/>
            <a:ext cx="1565452" cy="457200"/>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6〜12 時間先</a:t>
            </a:r>
          </a:p>
        </p:txBody>
      </p:sp>
      <p:sp>
        <p:nvSpPr>
          <p:cNvPr id="14" name="TextBox 13"/>
          <p:cNvSpPr txBox="1"/>
          <p:nvPr/>
        </p:nvSpPr>
        <p:spPr>
          <a:xfrm>
            <a:off x="2242108" y="3055366"/>
            <a:ext cx="2092147" cy="457200"/>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今日中に危険域に入るか</a:t>
            </a:r>
          </a:p>
        </p:txBody>
      </p:sp>
      <p:sp>
        <p:nvSpPr>
          <p:cNvPr id="15" name="TextBox 14"/>
          <p:cNvSpPr txBox="1"/>
          <p:nvPr/>
        </p:nvSpPr>
        <p:spPr>
          <a:xfrm>
            <a:off x="4407407" y="3055366"/>
            <a:ext cx="1975103" cy="457200"/>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冷却強化・申し送り</a:t>
            </a:r>
          </a:p>
        </p:txBody>
      </p:sp>
      <p:sp>
        <p:nvSpPr>
          <p:cNvPr id="16" name="TextBox 15"/>
          <p:cNvSpPr txBox="1"/>
          <p:nvPr/>
        </p:nvSpPr>
        <p:spPr>
          <a:xfrm>
            <a:off x="603504" y="3512566"/>
            <a:ext cx="1565452" cy="457200"/>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24 時間先</a:t>
            </a:r>
          </a:p>
        </p:txBody>
      </p:sp>
      <p:sp>
        <p:nvSpPr>
          <p:cNvPr id="17" name="TextBox 16"/>
          <p:cNvSpPr txBox="1"/>
          <p:nvPr/>
        </p:nvSpPr>
        <p:spPr>
          <a:xfrm>
            <a:off x="2242108" y="3512566"/>
            <a:ext cx="2092147" cy="457200"/>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明日の巡視をどう組むか</a:t>
            </a:r>
          </a:p>
        </p:txBody>
      </p:sp>
      <p:sp>
        <p:nvSpPr>
          <p:cNvPr id="18" name="TextBox 17"/>
          <p:cNvSpPr txBox="1"/>
          <p:nvPr/>
        </p:nvSpPr>
        <p:spPr>
          <a:xfrm>
            <a:off x="4407407" y="3512566"/>
            <a:ext cx="1975103" cy="457200"/>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点検の優先順位付け</a:t>
            </a:r>
          </a:p>
        </p:txBody>
      </p:sp>
      <p:sp>
        <p:nvSpPr>
          <p:cNvPr id="19" name="TextBox 18"/>
          <p:cNvSpPr txBox="1"/>
          <p:nvPr/>
        </p:nvSpPr>
        <p:spPr>
          <a:xfrm>
            <a:off x="6876288" y="1756918"/>
            <a:ext cx="4748479" cy="247649"/>
          </a:xfrm>
          <a:prstGeom prst="rect">
            <a:avLst/>
          </a:prstGeom>
          <a:noFill/>
        </p:spPr>
        <p:txBody>
          <a:bodyPr wrap="square" anchor="t" lIns="0" rIns="0" tIns="0" bIns="0">
            <a:spAutoFit/>
          </a:bodyPr>
          <a:lstStyle/>
          <a:p>
            <a:pPr algn="l" eaLnBrk="1" hangingPunct="1">
              <a:lnSpc>
                <a:spcPct val="130000"/>
              </a:lnSpc>
              <a:spcBef>
                <a:spcPts val="0"/>
              </a:spcBef>
              <a:spcAft>
                <a:spcPts val="0"/>
              </a:spcAft>
            </a:pPr>
            <a:r>
              <a:rPr sz="1500" b="0">
                <a:solidFill>
                  <a:srgbClr val="1F2933"/>
                </a:solidFill>
                <a:latin typeface="Calibri"/>
                <a:ea typeface="Yu Gothic"/>
                <a:cs typeface="Yu Gothic"/>
              </a:rPr>
              <a:t>評価指標の二段構え</a:t>
            </a:r>
          </a:p>
        </p:txBody>
      </p:sp>
      <p:sp>
        <p:nvSpPr>
          <p:cNvPr id="20" name="Rounded Rectangle 19"/>
          <p:cNvSpPr/>
          <p:nvPr/>
        </p:nvSpPr>
        <p:spPr>
          <a:xfrm>
            <a:off x="6876288" y="2140966"/>
            <a:ext cx="4748479" cy="1251077"/>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095744" y="2360422"/>
            <a:ext cx="4309567" cy="22860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1500" b="1">
                <a:solidFill>
                  <a:srgbClr val="1F2933"/>
                </a:solidFill>
                <a:latin typeface="Calibri"/>
                <a:ea typeface="Yu Gothic"/>
                <a:cs typeface="Yu Gothic"/>
              </a:rPr>
              <a:t>① 精度指標</a:t>
            </a:r>
          </a:p>
        </p:txBody>
      </p:sp>
      <p:sp>
        <p:nvSpPr>
          <p:cNvPr id="22" name="TextBox 21"/>
          <p:cNvSpPr txBox="1"/>
          <p:nvPr/>
        </p:nvSpPr>
        <p:spPr>
          <a:xfrm>
            <a:off x="7095744" y="2680462"/>
            <a:ext cx="4309567" cy="492125"/>
          </a:xfrm>
          <a:prstGeom prst="rect">
            <a:avLst/>
          </a:prstGeom>
          <a:noFill/>
        </p:spPr>
        <p:txBody>
          <a:bodyPr wrap="square" anchor="t" lIns="0" rIns="0" tIns="0" bIns="0">
            <a:spAutoFit/>
          </a:bodyPr>
          <a:lstStyle/>
          <a:p>
            <a:pPr algn="l" eaLnBrk="1" hangingPunct="1">
              <a:lnSpc>
                <a:spcPct val="135000"/>
              </a:lnSpc>
              <a:spcBef>
                <a:spcPts val="0"/>
              </a:spcBef>
              <a:spcAft>
                <a:spcPts val="500"/>
              </a:spcAft>
            </a:pPr>
            <a:r>
              <a:rPr sz="1250" b="0">
                <a:solidFill>
                  <a:srgbClr val="52606D"/>
                </a:solidFill>
                <a:latin typeface="Calibri"/>
                <a:ea typeface="Yu Gothic"/>
                <a:cs typeface="Yu Gothic"/>
              </a:rPr>
              <a:t>MAE / RMSE をホライズン別に測定し、ベースライン比の改善率で示す。</a:t>
            </a:r>
          </a:p>
        </p:txBody>
      </p:sp>
      <p:sp>
        <p:nvSpPr>
          <p:cNvPr id="23" name="Rounded Rectangle 22"/>
          <p:cNvSpPr/>
          <p:nvPr/>
        </p:nvSpPr>
        <p:spPr>
          <a:xfrm>
            <a:off x="6876288" y="3574923"/>
            <a:ext cx="4748479" cy="1528889"/>
          </a:xfrm>
          <a:prstGeom prst="roundRect">
            <a:avLst>
              <a:gd name="adj" fmla="val 6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095744" y="3794379"/>
            <a:ext cx="4309567" cy="22860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1500" b="1">
                <a:solidFill>
                  <a:srgbClr val="E8833A"/>
                </a:solidFill>
                <a:latin typeface="Calibri"/>
                <a:ea typeface="Yu Gothic"/>
                <a:cs typeface="Yu Gothic"/>
              </a:rPr>
              <a:t>② 業務指標</a:t>
            </a:r>
          </a:p>
        </p:txBody>
      </p:sp>
      <p:sp>
        <p:nvSpPr>
          <p:cNvPr id="25" name="TextBox 24"/>
          <p:cNvSpPr txBox="1"/>
          <p:nvPr/>
        </p:nvSpPr>
        <p:spPr>
          <a:xfrm>
            <a:off x="7095744" y="4114419"/>
            <a:ext cx="4309567" cy="769937"/>
          </a:xfrm>
          <a:prstGeom prst="rect">
            <a:avLst/>
          </a:prstGeom>
          <a:noFill/>
        </p:spPr>
        <p:txBody>
          <a:bodyPr wrap="square" anchor="t" lIns="0" rIns="0" tIns="0" bIns="0">
            <a:spAutoFit/>
          </a:bodyPr>
          <a:lstStyle/>
          <a:p>
            <a:pPr algn="l" eaLnBrk="1" hangingPunct="1">
              <a:lnSpc>
                <a:spcPct val="135000"/>
              </a:lnSpc>
              <a:spcBef>
                <a:spcPts val="0"/>
              </a:spcBef>
              <a:spcAft>
                <a:spcPts val="500"/>
              </a:spcAft>
            </a:pPr>
            <a:r>
              <a:rPr sz="1250" b="0">
                <a:solidFill>
                  <a:srgbClr val="52606D"/>
                </a:solidFill>
                <a:latin typeface="Calibri"/>
                <a:ea typeface="Yu Gothic"/>
                <a:cs typeface="Yu Gothic"/>
              </a:rPr>
              <a:t>高温リスクを N 時間前に警告できたかを検知率・適合率で測定。</a:t>
            </a:r>
          </a:p>
          <a:p>
            <a:pPr algn="l" eaLnBrk="1" hangingPunct="1">
              <a:lnSpc>
                <a:spcPct val="135000"/>
              </a:lnSpc>
              <a:spcBef>
                <a:spcPts val="0"/>
              </a:spcBef>
              <a:spcAft>
                <a:spcPts val="500"/>
              </a:spcAft>
            </a:pPr>
            <a:r>
              <a:rPr sz="1250" b="0">
                <a:solidFill>
                  <a:srgbClr val="52606D"/>
                </a:solidFill>
                <a:latin typeface="Calibri"/>
                <a:ea typeface="Yu Gothic"/>
                <a:cs typeface="Yu Gothic"/>
              </a:rPr>
              <a:t>閾値超過型と急上昇型の 2 種類を定義。</a:t>
            </a:r>
          </a:p>
        </p:txBody>
      </p:sp>
      <p:sp>
        <p:nvSpPr>
          <p:cNvPr id="26" name="Rounded Rectangle 25"/>
          <p:cNvSpPr/>
          <p:nvPr/>
        </p:nvSpPr>
        <p:spPr>
          <a:xfrm>
            <a:off x="566928" y="4353814"/>
            <a:ext cx="5852160" cy="1465389"/>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86384" y="4573270"/>
            <a:ext cx="5413248" cy="22860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1500" b="1">
                <a:solidFill>
                  <a:srgbClr val="1F2933"/>
                </a:solidFill>
                <a:latin typeface="Calibri"/>
                <a:ea typeface="Yu Gothic"/>
                <a:cs typeface="Yu Gothic"/>
              </a:rPr>
              <a:t>比較対象:現行運用が置いている仮定</a:t>
            </a:r>
          </a:p>
        </p:txBody>
      </p:sp>
      <p:sp>
        <p:nvSpPr>
          <p:cNvPr id="28" name="TextBox 27"/>
          <p:cNvSpPr txBox="1"/>
          <p:nvPr/>
        </p:nvSpPr>
        <p:spPr>
          <a:xfrm>
            <a:off x="786384" y="4893310"/>
            <a:ext cx="5413248" cy="706437"/>
          </a:xfrm>
          <a:prstGeom prst="rect">
            <a:avLst/>
          </a:prstGeom>
          <a:noFill/>
        </p:spPr>
        <p:txBody>
          <a:bodyPr wrap="square" anchor="t" lIns="0" rIns="0" tIns="0" bIns="0">
            <a:spAutoFit/>
          </a:bodyPr>
          <a:lstStyle/>
          <a:p>
            <a:pPr algn="l" eaLnBrk="1" hangingPunct="1">
              <a:lnSpc>
                <a:spcPct val="135000"/>
              </a:lnSpc>
              <a:spcBef>
                <a:spcPts val="0"/>
              </a:spcBef>
              <a:spcAft>
                <a:spcPts val="500"/>
              </a:spcAft>
            </a:pPr>
            <a:r>
              <a:rPr sz="1250" b="0">
                <a:solidFill>
                  <a:srgbClr val="52606D"/>
                </a:solidFill>
                <a:latin typeface="Calibri"/>
                <a:ea typeface="Yu Gothic"/>
                <a:cs typeface="Yu Gothic"/>
              </a:rPr>
              <a:t>persistence(「N 時間後も現在と同じ温度」)をベースラインとする。これは閾値監視が暗黙に置いている仮定であり、本 PoC はこれを上回れるかで価値を判断した。</a:t>
            </a:r>
          </a:p>
        </p:txBody>
      </p:sp>
      <p:sp>
        <p:nvSpPr>
          <p:cNvPr id="29" name="TextBox 28"/>
          <p:cNvSpPr txBox="1"/>
          <p:nvPr/>
        </p:nvSpPr>
        <p:spPr>
          <a:xfrm>
            <a:off x="11076127" y="6473952"/>
            <a:ext cx="548640" cy="219456"/>
          </a:xfrm>
          <a:prstGeom prst="rect">
            <a:avLst/>
          </a:prstGeom>
          <a:noFill/>
        </p:spPr>
        <p:txBody>
          <a:bodyPr wrap="square" anchor="t" lIns="0" rIns="0" tIns="0" bIns="0">
            <a:spAutoFit/>
          </a:bodyPr>
          <a:lstStyle/>
          <a:p>
            <a:pPr algn="r" eaLnBrk="1" hangingPunct="1">
              <a:lnSpc>
                <a:spcPct val="130000"/>
              </a:lnSpc>
              <a:spcBef>
                <a:spcPts val="0"/>
              </a:spcBef>
              <a:spcAft>
                <a:spcPts val="0"/>
              </a:spcAft>
            </a:pPr>
            <a:r>
              <a:rPr sz="1000" b="0">
                <a:solidFill>
                  <a:srgbClr val="9AA5B1"/>
                </a:solidFill>
                <a:latin typeface="Calibri"/>
                <a:ea typeface="Yu Gothic"/>
                <a:cs typeface="Yu Gothic"/>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551878" cy="274320"/>
          </a:xfrm>
          <a:prstGeom prst="roundRect">
            <a:avLst>
              <a:gd name="adj" fmla="val 35000"/>
            </a:avLst>
          </a:prstGeom>
          <a:solidFill>
            <a:srgbClr val="2F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150" b="1">
                <a:solidFill>
                  <a:srgbClr val="FFFFFF"/>
                </a:solidFill>
                <a:latin typeface="Calibri"/>
                <a:ea typeface="Yu Gothic"/>
                <a:cs typeface="Yu Gothic"/>
              </a:rPr>
              <a:t>EDA</a:t>
            </a:r>
          </a:p>
        </p:txBody>
      </p:sp>
      <p:sp>
        <p:nvSpPr>
          <p:cNvPr id="3" name="TextBox 2"/>
          <p:cNvSpPr txBox="1"/>
          <p:nvPr/>
        </p:nvSpPr>
        <p:spPr>
          <a:xfrm>
            <a:off x="566928" y="786384"/>
            <a:ext cx="11057839" cy="33528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2200" b="1">
                <a:solidFill>
                  <a:srgbClr val="1F2933"/>
                </a:solidFill>
                <a:latin typeface="Calibri"/>
                <a:ea typeface="Yu Gothic"/>
                <a:cs typeface="Yu Gothic"/>
              </a:rPr>
              <a:t>2 台の変圧器は挙動が大きく異なり、一律のモデル設計は成り立たない</a:t>
            </a:r>
          </a:p>
        </p:txBody>
      </p:sp>
      <p:pic>
        <p:nvPicPr>
          <p:cNvPr id="4" name="Picture 3" descr="slide_ot_overview.png"/>
          <p:cNvPicPr>
            <a:picLocks noChangeAspect="1"/>
          </p:cNvPicPr>
          <p:nvPr/>
        </p:nvPicPr>
        <p:blipFill>
          <a:blip r:embed="rId2"/>
          <a:stretch>
            <a:fillRect/>
          </a:stretch>
        </p:blipFill>
        <p:spPr>
          <a:xfrm>
            <a:off x="2590023" y="1450848"/>
            <a:ext cx="7011649" cy="3200400"/>
          </a:xfrm>
          <a:prstGeom prst="rect">
            <a:avLst/>
          </a:prstGeom>
        </p:spPr>
      </p:pic>
      <p:sp>
        <p:nvSpPr>
          <p:cNvPr id="5" name="TextBox 4"/>
          <p:cNvSpPr txBox="1"/>
          <p:nvPr/>
        </p:nvSpPr>
        <p:spPr>
          <a:xfrm>
            <a:off x="566928" y="4907280"/>
            <a:ext cx="11057839" cy="572770"/>
          </a:xfrm>
          <a:prstGeom prst="rect">
            <a:avLst/>
          </a:prstGeom>
          <a:noFill/>
        </p:spPr>
        <p:txBody>
          <a:bodyPr wrap="square" anchor="t" lIns="0" rIns="0" tIns="0" bIns="0">
            <a:spAutoFit/>
          </a:bodyPr>
          <a:lstStyle/>
          <a:p>
            <a:pPr algn="l" eaLnBrk="1" hangingPunct="1">
              <a:lnSpc>
                <a:spcPct val="130000"/>
              </a:lnSpc>
              <a:spcBef>
                <a:spcPts val="0"/>
              </a:spcBef>
              <a:spcAft>
                <a:spcPts val="500"/>
              </a:spcAft>
            </a:pPr>
            <a:r>
              <a:rPr sz="1350" b="0">
                <a:solidFill>
                  <a:srgbClr val="1F2933"/>
                </a:solidFill>
                <a:latin typeface="Calibri"/>
                <a:ea typeface="Yu Gothic"/>
                <a:cs typeface="Yu Gothic"/>
              </a:rPr>
              <a:t>ETTh1: 季節性に加えて 2 年で温度レベルが大きく低下(負荷も半減)。学習期間と運用期間で温度帯が変わる。</a:t>
            </a:r>
          </a:p>
          <a:p>
            <a:pPr algn="l" eaLnBrk="1" hangingPunct="1">
              <a:lnSpc>
                <a:spcPct val="130000"/>
              </a:lnSpc>
              <a:spcBef>
                <a:spcPts val="0"/>
              </a:spcBef>
              <a:spcAft>
                <a:spcPts val="500"/>
              </a:spcAft>
            </a:pPr>
            <a:r>
              <a:rPr sz="1350" b="0">
                <a:solidFill>
                  <a:srgbClr val="1F2933"/>
                </a:solidFill>
                <a:latin typeface="Calibri"/>
                <a:ea typeface="Yu Gothic"/>
                <a:cs typeface="Yu Gothic"/>
              </a:rPr>
              <a:t>ETTh2: 年周期が安定し、毎夏 50°C 超に到達。高温リスク管理の対象になるのはこちらの設備。</a:t>
            </a:r>
          </a:p>
        </p:txBody>
      </p:sp>
      <p:sp>
        <p:nvSpPr>
          <p:cNvPr id="6" name="TextBox 5"/>
          <p:cNvSpPr txBox="1"/>
          <p:nvPr/>
        </p:nvSpPr>
        <p:spPr>
          <a:xfrm>
            <a:off x="566928" y="6035040"/>
            <a:ext cx="11057839" cy="166687"/>
          </a:xfrm>
          <a:prstGeom prst="rect">
            <a:avLst/>
          </a:prstGeom>
          <a:noFill/>
        </p:spPr>
        <p:txBody>
          <a:bodyPr wrap="square" anchor="t" lIns="0" rIns="0" tIns="0" bIns="0">
            <a:spAutoFit/>
          </a:bodyPr>
          <a:lstStyle/>
          <a:p>
            <a:pPr algn="l" eaLnBrk="1" hangingPunct="1">
              <a:lnSpc>
                <a:spcPct val="125000"/>
              </a:lnSpc>
              <a:spcBef>
                <a:spcPts val="0"/>
              </a:spcBef>
              <a:spcAft>
                <a:spcPts val="0"/>
              </a:spcAft>
            </a:pPr>
            <a:r>
              <a:rPr sz="1050" b="0">
                <a:solidFill>
                  <a:srgbClr val="52606D"/>
                </a:solidFill>
                <a:latin typeface="Calibri"/>
                <a:ea typeface="Yu Gothic"/>
                <a:cs typeface="Yu Gothic"/>
              </a:rPr>
              <a:t>細線: 1 時間値、太線: 月平均。</a:t>
            </a:r>
          </a:p>
        </p:txBody>
      </p:sp>
      <p:sp>
        <p:nvSpPr>
          <p:cNvPr id="7" name="TextBox 6"/>
          <p:cNvSpPr txBox="1"/>
          <p:nvPr/>
        </p:nvSpPr>
        <p:spPr>
          <a:xfrm>
            <a:off x="11076127" y="6473952"/>
            <a:ext cx="548640" cy="219456"/>
          </a:xfrm>
          <a:prstGeom prst="rect">
            <a:avLst/>
          </a:prstGeom>
          <a:noFill/>
        </p:spPr>
        <p:txBody>
          <a:bodyPr wrap="square" anchor="t" lIns="0" rIns="0" tIns="0" bIns="0">
            <a:spAutoFit/>
          </a:bodyPr>
          <a:lstStyle/>
          <a:p>
            <a:pPr algn="r" eaLnBrk="1" hangingPunct="1">
              <a:lnSpc>
                <a:spcPct val="130000"/>
              </a:lnSpc>
              <a:spcBef>
                <a:spcPts val="0"/>
              </a:spcBef>
              <a:spcAft>
                <a:spcPts val="0"/>
              </a:spcAft>
            </a:pPr>
            <a:r>
              <a:rPr sz="1000" b="0">
                <a:solidFill>
                  <a:srgbClr val="9AA5B1"/>
                </a:solidFill>
                <a:latin typeface="Calibri"/>
                <a:ea typeface="Yu Gothic"/>
                <a:cs typeface="Yu Gothic"/>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551878" cy="274320"/>
          </a:xfrm>
          <a:prstGeom prst="roundRect">
            <a:avLst>
              <a:gd name="adj" fmla="val 35000"/>
            </a:avLst>
          </a:prstGeom>
          <a:solidFill>
            <a:srgbClr val="2F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150" b="1">
                <a:solidFill>
                  <a:srgbClr val="FFFFFF"/>
                </a:solidFill>
                <a:latin typeface="Calibri"/>
                <a:ea typeface="Yu Gothic"/>
                <a:cs typeface="Yu Gothic"/>
              </a:rPr>
              <a:t>EDA</a:t>
            </a:r>
          </a:p>
        </p:txBody>
      </p:sp>
      <p:sp>
        <p:nvSpPr>
          <p:cNvPr id="3" name="TextBox 2"/>
          <p:cNvSpPr txBox="1"/>
          <p:nvPr/>
        </p:nvSpPr>
        <p:spPr>
          <a:xfrm>
            <a:off x="566928" y="786384"/>
            <a:ext cx="11057839" cy="33528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2200" b="1">
                <a:solidFill>
                  <a:srgbClr val="1F2933"/>
                </a:solidFill>
                <a:latin typeface="Calibri"/>
                <a:ea typeface="Yu Gothic"/>
                <a:cs typeface="Yu Gothic"/>
              </a:rPr>
              <a:t>ETTh2 は日内周期で予測余地が大きく、ETTh1 の短期変動はほぼランダムウォーク</a:t>
            </a:r>
          </a:p>
        </p:txBody>
      </p:sp>
      <p:sp>
        <p:nvSpPr>
          <p:cNvPr id="4" name="TextBox 3"/>
          <p:cNvSpPr txBox="1"/>
          <p:nvPr/>
        </p:nvSpPr>
        <p:spPr>
          <a:xfrm>
            <a:off x="566928" y="1249680"/>
            <a:ext cx="11057839" cy="214630"/>
          </a:xfrm>
          <a:prstGeom prst="rect">
            <a:avLst/>
          </a:prstGeom>
          <a:noFill/>
        </p:spPr>
        <p:txBody>
          <a:bodyPr wrap="square" anchor="t" lIns="0" rIns="0" tIns="0" bIns="0">
            <a:spAutoFit/>
          </a:bodyPr>
          <a:lstStyle/>
          <a:p>
            <a:pPr algn="l" eaLnBrk="1" hangingPunct="1">
              <a:lnSpc>
                <a:spcPct val="130000"/>
              </a:lnSpc>
              <a:spcBef>
                <a:spcPts val="0"/>
              </a:spcBef>
              <a:spcAft>
                <a:spcPts val="0"/>
              </a:spcAft>
            </a:pPr>
            <a:r>
              <a:rPr sz="1300" b="0">
                <a:solidFill>
                  <a:srgbClr val="52606D"/>
                </a:solidFill>
                <a:latin typeface="Calibri"/>
                <a:ea typeface="Yu Gothic"/>
                <a:cs typeface="Yu Gothic"/>
              </a:rPr>
              <a:t>この差がそのままモデルの改善幅の差として現れる</a:t>
            </a:r>
          </a:p>
        </p:txBody>
      </p:sp>
      <p:pic>
        <p:nvPicPr>
          <p:cNvPr id="5" name="Picture 4" descr="slide_predictability.png"/>
          <p:cNvPicPr>
            <a:picLocks noChangeAspect="1"/>
          </p:cNvPicPr>
          <p:nvPr/>
        </p:nvPicPr>
        <p:blipFill>
          <a:blip r:embed="rId2"/>
          <a:stretch>
            <a:fillRect/>
          </a:stretch>
        </p:blipFill>
        <p:spPr>
          <a:xfrm>
            <a:off x="2352181" y="1756918"/>
            <a:ext cx="7487333" cy="2880360"/>
          </a:xfrm>
          <a:prstGeom prst="rect">
            <a:avLst/>
          </a:prstGeom>
        </p:spPr>
      </p:pic>
      <p:sp>
        <p:nvSpPr>
          <p:cNvPr id="6" name="TextBox 5"/>
          <p:cNvSpPr txBox="1"/>
          <p:nvPr/>
        </p:nvSpPr>
        <p:spPr>
          <a:xfrm>
            <a:off x="566928" y="4893310"/>
            <a:ext cx="11057839" cy="572770"/>
          </a:xfrm>
          <a:prstGeom prst="rect">
            <a:avLst/>
          </a:prstGeom>
          <a:noFill/>
        </p:spPr>
        <p:txBody>
          <a:bodyPr wrap="square" anchor="t" lIns="0" rIns="0" tIns="0" bIns="0">
            <a:spAutoFit/>
          </a:bodyPr>
          <a:lstStyle/>
          <a:p>
            <a:pPr algn="l" eaLnBrk="1" hangingPunct="1">
              <a:lnSpc>
                <a:spcPct val="130000"/>
              </a:lnSpc>
              <a:spcBef>
                <a:spcPts val="0"/>
              </a:spcBef>
              <a:spcAft>
                <a:spcPts val="500"/>
              </a:spcAft>
            </a:pPr>
            <a:r>
              <a:rPr sz="1350" b="0">
                <a:solidFill>
                  <a:srgbClr val="1F2933"/>
                </a:solidFill>
                <a:latin typeface="Calibri"/>
                <a:ea typeface="Yu Gothic"/>
                <a:cs typeface="Yu Gothic"/>
              </a:rPr>
              <a:t>左: 1 時間差分の自己相関。ETTh2 は 24 時間周期の構造が残る一方、ETTh1 はほぼ相関を持たない。</a:t>
            </a:r>
          </a:p>
          <a:p>
            <a:pPr algn="l" eaLnBrk="1" hangingPunct="1">
              <a:lnSpc>
                <a:spcPct val="130000"/>
              </a:lnSpc>
              <a:spcBef>
                <a:spcPts val="0"/>
              </a:spcBef>
              <a:spcAft>
                <a:spcPts val="500"/>
              </a:spcAft>
            </a:pPr>
            <a:r>
              <a:rPr sz="1350" b="0">
                <a:solidFill>
                  <a:srgbClr val="1F2933"/>
                </a:solidFill>
                <a:latin typeface="Calibri"/>
                <a:ea typeface="Yu Gothic"/>
                <a:cs typeface="Yu Gothic"/>
              </a:rPr>
              <a:t>右: 日内振幅は ETTh2 が ±5°C、ETTh1 は ±1.4°C。曜日効果はどちらも検出されなかった。</a:t>
            </a:r>
          </a:p>
        </p:txBody>
      </p:sp>
      <p:sp>
        <p:nvSpPr>
          <p:cNvPr id="7" name="TextBox 6"/>
          <p:cNvSpPr txBox="1"/>
          <p:nvPr/>
        </p:nvSpPr>
        <p:spPr>
          <a:xfrm>
            <a:off x="566928" y="6035040"/>
            <a:ext cx="11057839" cy="166687"/>
          </a:xfrm>
          <a:prstGeom prst="rect">
            <a:avLst/>
          </a:prstGeom>
          <a:noFill/>
        </p:spPr>
        <p:txBody>
          <a:bodyPr wrap="square" anchor="t" lIns="0" rIns="0" tIns="0" bIns="0">
            <a:spAutoFit/>
          </a:bodyPr>
          <a:lstStyle/>
          <a:p>
            <a:pPr algn="l" eaLnBrk="1" hangingPunct="1">
              <a:lnSpc>
                <a:spcPct val="125000"/>
              </a:lnSpc>
              <a:spcBef>
                <a:spcPts val="0"/>
              </a:spcBef>
              <a:spcAft>
                <a:spcPts val="0"/>
              </a:spcAft>
            </a:pPr>
            <a:r>
              <a:rPr sz="1050" b="0">
                <a:solidFill>
                  <a:srgbClr val="52606D"/>
                </a:solidFill>
                <a:latin typeface="Calibri"/>
                <a:ea typeface="Yu Gothic"/>
                <a:cs typeface="Yu Gothic"/>
              </a:rPr>
              <a:t>原系列の自己相関は両設備とも lag1 で 0.99 超 — 「現在値の持続」が極めて強いベースラインになることを示す。</a:t>
            </a:r>
          </a:p>
        </p:txBody>
      </p:sp>
      <p:sp>
        <p:nvSpPr>
          <p:cNvPr id="8" name="TextBox 7"/>
          <p:cNvSpPr txBox="1"/>
          <p:nvPr/>
        </p:nvSpPr>
        <p:spPr>
          <a:xfrm>
            <a:off x="11076127" y="6473952"/>
            <a:ext cx="548640" cy="219456"/>
          </a:xfrm>
          <a:prstGeom prst="rect">
            <a:avLst/>
          </a:prstGeom>
          <a:noFill/>
        </p:spPr>
        <p:txBody>
          <a:bodyPr wrap="square" anchor="t" lIns="0" rIns="0" tIns="0" bIns="0">
            <a:spAutoFit/>
          </a:bodyPr>
          <a:lstStyle/>
          <a:p>
            <a:pPr algn="r" eaLnBrk="1" hangingPunct="1">
              <a:lnSpc>
                <a:spcPct val="130000"/>
              </a:lnSpc>
              <a:spcBef>
                <a:spcPts val="0"/>
              </a:spcBef>
              <a:spcAft>
                <a:spcPts val="0"/>
              </a:spcAft>
            </a:pPr>
            <a:r>
              <a:rPr sz="1000" b="0">
                <a:solidFill>
                  <a:srgbClr val="9AA5B1"/>
                </a:solidFill>
                <a:latin typeface="Calibri"/>
                <a:ea typeface="Yu Gothic"/>
                <a:cs typeface="Yu Gothic"/>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551878" cy="274320"/>
          </a:xfrm>
          <a:prstGeom prst="roundRect">
            <a:avLst>
              <a:gd name="adj" fmla="val 35000"/>
            </a:avLst>
          </a:prstGeom>
          <a:solidFill>
            <a:srgbClr val="2F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150" b="1">
                <a:solidFill>
                  <a:srgbClr val="FFFFFF"/>
                </a:solidFill>
                <a:latin typeface="Calibri"/>
                <a:ea typeface="Yu Gothic"/>
                <a:cs typeface="Yu Gothic"/>
              </a:rPr>
              <a:t>EDA</a:t>
            </a:r>
          </a:p>
        </p:txBody>
      </p:sp>
      <p:sp>
        <p:nvSpPr>
          <p:cNvPr id="3" name="TextBox 2"/>
          <p:cNvSpPr txBox="1"/>
          <p:nvPr/>
        </p:nvSpPr>
        <p:spPr>
          <a:xfrm>
            <a:off x="566928" y="786384"/>
            <a:ext cx="11057839" cy="67056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2200" b="1">
                <a:solidFill>
                  <a:srgbClr val="1F2933"/>
                </a:solidFill>
                <a:latin typeface="Calibri"/>
                <a:ea typeface="Yu Gothic"/>
                <a:cs typeface="Yu Gothic"/>
              </a:rPr>
              <a:t>負荷と温度の相関は弱く、「負荷上昇の k 時間後に昇温」という遅れ構造は見られない</a:t>
            </a:r>
          </a:p>
        </p:txBody>
      </p:sp>
      <p:sp>
        <p:nvSpPr>
          <p:cNvPr id="4" name="TextBox 3"/>
          <p:cNvSpPr txBox="1"/>
          <p:nvPr/>
        </p:nvSpPr>
        <p:spPr>
          <a:xfrm>
            <a:off x="566928" y="1584960"/>
            <a:ext cx="11057839" cy="214630"/>
          </a:xfrm>
          <a:prstGeom prst="rect">
            <a:avLst/>
          </a:prstGeom>
          <a:noFill/>
        </p:spPr>
        <p:txBody>
          <a:bodyPr wrap="square" anchor="t" lIns="0" rIns="0" tIns="0" bIns="0">
            <a:spAutoFit/>
          </a:bodyPr>
          <a:lstStyle/>
          <a:p>
            <a:pPr algn="l" eaLnBrk="1" hangingPunct="1">
              <a:lnSpc>
                <a:spcPct val="130000"/>
              </a:lnSpc>
              <a:spcBef>
                <a:spcPts val="0"/>
              </a:spcBef>
              <a:spcAft>
                <a:spcPts val="0"/>
              </a:spcAft>
            </a:pPr>
            <a:r>
              <a:rPr sz="1300" b="0">
                <a:solidFill>
                  <a:srgbClr val="52606D"/>
                </a:solidFill>
                <a:latin typeface="Calibri"/>
                <a:ea typeface="Yu Gothic"/>
                <a:cs typeface="Yu Gothic"/>
              </a:rPr>
              <a:t>温度変動の主因は観測されていない外部要因(外気温・日射等)にあると考えられる</a:t>
            </a:r>
          </a:p>
        </p:txBody>
      </p:sp>
      <p:pic>
        <p:nvPicPr>
          <p:cNvPr id="5" name="Picture 4" descr="slide_load_xcorr.png"/>
          <p:cNvPicPr>
            <a:picLocks noChangeAspect="1"/>
          </p:cNvPicPr>
          <p:nvPr/>
        </p:nvPicPr>
        <p:blipFill>
          <a:blip r:embed="rId2"/>
          <a:stretch>
            <a:fillRect/>
          </a:stretch>
        </p:blipFill>
        <p:spPr>
          <a:xfrm>
            <a:off x="2308621" y="2092198"/>
            <a:ext cx="7574453" cy="2788920"/>
          </a:xfrm>
          <a:prstGeom prst="rect">
            <a:avLst/>
          </a:prstGeom>
        </p:spPr>
      </p:pic>
      <p:sp>
        <p:nvSpPr>
          <p:cNvPr id="6" name="TextBox 5"/>
          <p:cNvSpPr txBox="1"/>
          <p:nvPr/>
        </p:nvSpPr>
        <p:spPr>
          <a:xfrm>
            <a:off x="566928" y="5137150"/>
            <a:ext cx="11057839" cy="572770"/>
          </a:xfrm>
          <a:prstGeom prst="rect">
            <a:avLst/>
          </a:prstGeom>
          <a:noFill/>
        </p:spPr>
        <p:txBody>
          <a:bodyPr wrap="square" anchor="t" lIns="0" rIns="0" tIns="0" bIns="0">
            <a:spAutoFit/>
          </a:bodyPr>
          <a:lstStyle/>
          <a:p>
            <a:pPr algn="l" eaLnBrk="1" hangingPunct="1">
              <a:lnSpc>
                <a:spcPct val="130000"/>
              </a:lnSpc>
              <a:spcBef>
                <a:spcPts val="0"/>
              </a:spcBef>
              <a:spcAft>
                <a:spcPts val="500"/>
              </a:spcAft>
            </a:pPr>
            <a:r>
              <a:rPr sz="1350" b="0">
                <a:solidFill>
                  <a:srgbClr val="1F2933"/>
                </a:solidFill>
                <a:latin typeface="Calibri"/>
                <a:ea typeface="Yu Gothic"/>
                <a:cs typeface="Yu Gothic"/>
              </a:rPr>
              <a:t>レベル相関は最大でも 0.49(ETTh2 の MULL)。ラグを変えても相関はほぼ平坦で、先行指標としては機能しない。</a:t>
            </a:r>
          </a:p>
          <a:p>
            <a:pPr algn="l" eaLnBrk="1" hangingPunct="1">
              <a:lnSpc>
                <a:spcPct val="130000"/>
              </a:lnSpc>
              <a:spcBef>
                <a:spcPts val="0"/>
              </a:spcBef>
              <a:spcAft>
                <a:spcPts val="500"/>
              </a:spcAft>
            </a:pPr>
            <a:r>
              <a:rPr sz="1350" b="1">
                <a:solidFill>
                  <a:srgbClr val="1F2933"/>
                </a:solidFill>
                <a:latin typeface="Calibri"/>
                <a:ea typeface="Yu Gothic"/>
                <a:cs typeface="Yu Gothic"/>
              </a:rPr>
              <a:t>→ 負荷ラグは特徴量に含めるが主役とは見なさず、「有無を比較して寄与を検証する」方針とした。</a:t>
            </a:r>
          </a:p>
        </p:txBody>
      </p:sp>
      <p:sp>
        <p:nvSpPr>
          <p:cNvPr id="7" name="TextBox 6"/>
          <p:cNvSpPr txBox="1"/>
          <p:nvPr/>
        </p:nvSpPr>
        <p:spPr>
          <a:xfrm>
            <a:off x="566928" y="6035040"/>
            <a:ext cx="11057839" cy="166687"/>
          </a:xfrm>
          <a:prstGeom prst="rect">
            <a:avLst/>
          </a:prstGeom>
          <a:noFill/>
        </p:spPr>
        <p:txBody>
          <a:bodyPr wrap="square" anchor="t" lIns="0" rIns="0" tIns="0" bIns="0">
            <a:spAutoFit/>
          </a:bodyPr>
          <a:lstStyle/>
          <a:p>
            <a:pPr algn="l" eaLnBrk="1" hangingPunct="1">
              <a:lnSpc>
                <a:spcPct val="125000"/>
              </a:lnSpc>
              <a:spcBef>
                <a:spcPts val="0"/>
              </a:spcBef>
              <a:spcAft>
                <a:spcPts val="0"/>
              </a:spcAft>
            </a:pPr>
            <a:r>
              <a:rPr sz="1050" b="0">
                <a:solidFill>
                  <a:srgbClr val="52606D"/>
                </a:solidFill>
                <a:latin typeface="Calibri"/>
                <a:ea typeface="Yu Gothic"/>
                <a:cs typeface="Yu Gothic"/>
              </a:rPr>
              <a:t>1 時間差分どうしの相関は全変数・全ラグで 0.15 未満。</a:t>
            </a:r>
          </a:p>
        </p:txBody>
      </p:sp>
      <p:sp>
        <p:nvSpPr>
          <p:cNvPr id="8" name="TextBox 7"/>
          <p:cNvSpPr txBox="1"/>
          <p:nvPr/>
        </p:nvSpPr>
        <p:spPr>
          <a:xfrm>
            <a:off x="11076127" y="6473952"/>
            <a:ext cx="548640" cy="219456"/>
          </a:xfrm>
          <a:prstGeom prst="rect">
            <a:avLst/>
          </a:prstGeom>
          <a:noFill/>
        </p:spPr>
        <p:txBody>
          <a:bodyPr wrap="square" anchor="t" lIns="0" rIns="0" tIns="0" bIns="0">
            <a:spAutoFit/>
          </a:bodyPr>
          <a:lstStyle/>
          <a:p>
            <a:pPr algn="r" eaLnBrk="1" hangingPunct="1">
              <a:lnSpc>
                <a:spcPct val="130000"/>
              </a:lnSpc>
              <a:spcBef>
                <a:spcPts val="0"/>
              </a:spcBef>
              <a:spcAft>
                <a:spcPts val="0"/>
              </a:spcAft>
            </a:pPr>
            <a:r>
              <a:rPr sz="1000" b="0">
                <a:solidFill>
                  <a:srgbClr val="9AA5B1"/>
                </a:solidFill>
                <a:latin typeface="Calibri"/>
                <a:ea typeface="Yu Gothic"/>
                <a:cs typeface="Yu Gothic"/>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551878" cy="274320"/>
          </a:xfrm>
          <a:prstGeom prst="roundRect">
            <a:avLst>
              <a:gd name="adj" fmla="val 35000"/>
            </a:avLst>
          </a:prstGeom>
          <a:solidFill>
            <a:srgbClr val="2F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150" b="1">
                <a:solidFill>
                  <a:srgbClr val="FFFFFF"/>
                </a:solidFill>
                <a:latin typeface="Calibri"/>
                <a:ea typeface="Yu Gothic"/>
                <a:cs typeface="Yu Gothic"/>
              </a:rPr>
              <a:t>EDA</a:t>
            </a:r>
          </a:p>
        </p:txBody>
      </p:sp>
      <p:sp>
        <p:nvSpPr>
          <p:cNvPr id="3" name="TextBox 2"/>
          <p:cNvSpPr txBox="1"/>
          <p:nvPr/>
        </p:nvSpPr>
        <p:spPr>
          <a:xfrm>
            <a:off x="566928" y="786384"/>
            <a:ext cx="11057839" cy="33528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2200" b="1">
                <a:solidFill>
                  <a:srgbClr val="1F2933"/>
                </a:solidFill>
                <a:latin typeface="Calibri"/>
                <a:ea typeface="Yu Gothic"/>
                <a:cs typeface="Yu Gothic"/>
              </a:rPr>
              <a:t>機械的に生じた欠測・前方補完が含まれ、これは現行の閾値監視の誤報源でもある</a:t>
            </a:r>
          </a:p>
        </p:txBody>
      </p:sp>
      <p:pic>
        <p:nvPicPr>
          <p:cNvPr id="4" name="Picture 3" descr="slide_artifacts.png"/>
          <p:cNvPicPr>
            <a:picLocks noChangeAspect="1"/>
          </p:cNvPicPr>
          <p:nvPr/>
        </p:nvPicPr>
        <p:blipFill>
          <a:blip r:embed="rId2"/>
          <a:stretch>
            <a:fillRect/>
          </a:stretch>
        </p:blipFill>
        <p:spPr>
          <a:xfrm>
            <a:off x="2479829" y="1450848"/>
            <a:ext cx="7232036" cy="2697480"/>
          </a:xfrm>
          <a:prstGeom prst="rect">
            <a:avLst/>
          </a:prstGeom>
        </p:spPr>
      </p:pic>
      <p:sp>
        <p:nvSpPr>
          <p:cNvPr id="5" name="Rounded Rectangle 4"/>
          <p:cNvSpPr/>
          <p:nvPr/>
        </p:nvSpPr>
        <p:spPr>
          <a:xfrm>
            <a:off x="566928" y="4422648"/>
            <a:ext cx="3490874" cy="1465389"/>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86384" y="4642104"/>
            <a:ext cx="3051962" cy="21336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1400" b="1">
                <a:solidFill>
                  <a:srgbClr val="1F2933"/>
                </a:solidFill>
                <a:latin typeface="Calibri"/>
                <a:ea typeface="Yu Gothic"/>
                <a:cs typeface="Yu Gothic"/>
              </a:rPr>
              <a:t>毎月 31 日の前方補完</a:t>
            </a:r>
          </a:p>
        </p:txBody>
      </p:sp>
      <p:sp>
        <p:nvSpPr>
          <p:cNvPr id="7" name="TextBox 6"/>
          <p:cNvSpPr txBox="1"/>
          <p:nvPr/>
        </p:nvSpPr>
        <p:spPr>
          <a:xfrm>
            <a:off x="786384" y="4946904"/>
            <a:ext cx="3051962" cy="492125"/>
          </a:xfrm>
          <a:prstGeom prst="rect">
            <a:avLst/>
          </a:prstGeom>
          <a:noFill/>
        </p:spPr>
        <p:txBody>
          <a:bodyPr wrap="square" anchor="t" lIns="0" rIns="0" tIns="0" bIns="0">
            <a:spAutoFit/>
          </a:bodyPr>
          <a:lstStyle/>
          <a:p>
            <a:pPr algn="l" eaLnBrk="1" hangingPunct="1">
              <a:lnSpc>
                <a:spcPct val="135000"/>
              </a:lnSpc>
              <a:spcBef>
                <a:spcPts val="0"/>
              </a:spcBef>
              <a:spcAft>
                <a:spcPts val="500"/>
              </a:spcAft>
            </a:pPr>
            <a:r>
              <a:rPr sz="1250" b="0">
                <a:solidFill>
                  <a:srgbClr val="52606D"/>
                </a:solidFill>
                <a:latin typeface="Calibri"/>
                <a:ea typeface="Yu Gothic"/>
                <a:cs typeface="Yu Gothic"/>
              </a:rPr>
              <a:t>01:00〜23:00 の全列が 00:00 の値と同一。両設備で 322 行(全体の 1.8%)。</a:t>
            </a:r>
          </a:p>
        </p:txBody>
      </p:sp>
      <p:sp>
        <p:nvSpPr>
          <p:cNvPr id="8" name="Rounded Rectangle 7"/>
          <p:cNvSpPr/>
          <p:nvPr/>
        </p:nvSpPr>
        <p:spPr>
          <a:xfrm>
            <a:off x="4350410" y="4422648"/>
            <a:ext cx="3490874" cy="1465389"/>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569866" y="4642104"/>
            <a:ext cx="3051962" cy="21336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1400" b="1">
                <a:solidFill>
                  <a:srgbClr val="1F2933"/>
                </a:solidFill>
                <a:latin typeface="Calibri"/>
                <a:ea typeface="Yu Gothic"/>
                <a:cs typeface="Yu Gothic"/>
              </a:rPr>
              <a:t>オイル温度の欠測</a:t>
            </a:r>
          </a:p>
        </p:txBody>
      </p:sp>
      <p:sp>
        <p:nvSpPr>
          <p:cNvPr id="10" name="TextBox 9"/>
          <p:cNvSpPr txBox="1"/>
          <p:nvPr/>
        </p:nvSpPr>
        <p:spPr>
          <a:xfrm>
            <a:off x="4569866" y="4946904"/>
            <a:ext cx="3051962" cy="706437"/>
          </a:xfrm>
          <a:prstGeom prst="rect">
            <a:avLst/>
          </a:prstGeom>
          <a:noFill/>
        </p:spPr>
        <p:txBody>
          <a:bodyPr wrap="square" anchor="t" lIns="0" rIns="0" tIns="0" bIns="0">
            <a:spAutoFit/>
          </a:bodyPr>
          <a:lstStyle/>
          <a:p>
            <a:pPr algn="l" eaLnBrk="1" hangingPunct="1">
              <a:lnSpc>
                <a:spcPct val="135000"/>
              </a:lnSpc>
              <a:spcBef>
                <a:spcPts val="0"/>
              </a:spcBef>
              <a:spcAft>
                <a:spcPts val="500"/>
              </a:spcAft>
            </a:pPr>
            <a:r>
              <a:rPr sz="1250" b="0">
                <a:solidFill>
                  <a:srgbClr val="52606D"/>
                </a:solidFill>
                <a:latin typeface="Calibri"/>
                <a:ea typeface="Yu Gothic"/>
                <a:cs typeface="Yu Gothic"/>
              </a:rPr>
              <a:t>OT = 0.00 が ETTh1 で 111 行。負荷は正常値のため、センサ側の欠測と判断。</a:t>
            </a:r>
          </a:p>
        </p:txBody>
      </p:sp>
      <p:sp>
        <p:nvSpPr>
          <p:cNvPr id="11" name="Rounded Rectangle 10"/>
          <p:cNvSpPr/>
          <p:nvPr/>
        </p:nvSpPr>
        <p:spPr>
          <a:xfrm>
            <a:off x="8133892" y="4422648"/>
            <a:ext cx="3490874" cy="1465389"/>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353348" y="4642104"/>
            <a:ext cx="3051962" cy="21336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1400" b="1">
                <a:solidFill>
                  <a:srgbClr val="1F2933"/>
                </a:solidFill>
                <a:latin typeface="Calibri"/>
                <a:ea typeface="Yu Gothic"/>
                <a:cs typeface="Yu Gothic"/>
              </a:rPr>
              <a:t>設備停止区間</a:t>
            </a:r>
          </a:p>
        </p:txBody>
      </p:sp>
      <p:sp>
        <p:nvSpPr>
          <p:cNvPr id="13" name="TextBox 12"/>
          <p:cNvSpPr txBox="1"/>
          <p:nvPr/>
        </p:nvSpPr>
        <p:spPr>
          <a:xfrm>
            <a:off x="8353348" y="4946904"/>
            <a:ext cx="3051962" cy="492125"/>
          </a:xfrm>
          <a:prstGeom prst="rect">
            <a:avLst/>
          </a:prstGeom>
          <a:noFill/>
        </p:spPr>
        <p:txBody>
          <a:bodyPr wrap="square" anchor="t" lIns="0" rIns="0" tIns="0" bIns="0">
            <a:spAutoFit/>
          </a:bodyPr>
          <a:lstStyle/>
          <a:p>
            <a:pPr algn="l" eaLnBrk="1" hangingPunct="1">
              <a:lnSpc>
                <a:spcPct val="135000"/>
              </a:lnSpc>
              <a:spcBef>
                <a:spcPts val="0"/>
              </a:spcBef>
              <a:spcAft>
                <a:spcPts val="500"/>
              </a:spcAft>
            </a:pPr>
            <a:r>
              <a:rPr sz="1250" b="0">
                <a:solidFill>
                  <a:srgbClr val="52606D"/>
                </a:solidFill>
                <a:latin typeface="Calibri"/>
                <a:ea typeface="Yu Gothic"/>
                <a:cs typeface="Yu Gothic"/>
              </a:rPr>
              <a:t>2016 年 12 月に全負荷ゼロが 58 時間。通常運転とは異なる状態。</a:t>
            </a:r>
          </a:p>
        </p:txBody>
      </p:sp>
      <p:sp>
        <p:nvSpPr>
          <p:cNvPr id="14" name="TextBox 13"/>
          <p:cNvSpPr txBox="1"/>
          <p:nvPr/>
        </p:nvSpPr>
        <p:spPr>
          <a:xfrm>
            <a:off x="566928" y="6035040"/>
            <a:ext cx="11057839" cy="166687"/>
          </a:xfrm>
          <a:prstGeom prst="rect">
            <a:avLst/>
          </a:prstGeom>
          <a:noFill/>
        </p:spPr>
        <p:txBody>
          <a:bodyPr wrap="square" anchor="t" lIns="0" rIns="0" tIns="0" bIns="0">
            <a:spAutoFit/>
          </a:bodyPr>
          <a:lstStyle/>
          <a:p>
            <a:pPr algn="l" eaLnBrk="1" hangingPunct="1">
              <a:lnSpc>
                <a:spcPct val="125000"/>
              </a:lnSpc>
              <a:spcBef>
                <a:spcPts val="0"/>
              </a:spcBef>
              <a:spcAft>
                <a:spcPts val="0"/>
              </a:spcAft>
            </a:pPr>
            <a:r>
              <a:rPr sz="1050" b="0">
                <a:solidFill>
                  <a:srgbClr val="52606D"/>
                </a:solidFill>
                <a:latin typeface="Calibri"/>
                <a:ea typeface="Yu Gothic"/>
                <a:cs typeface="Yu Gothic"/>
              </a:rPr>
              <a:t>本 PoC では該当行を自動検出して学習・評価から除外した(flag_artifacts)。実運用では品質フラグを監視系に組み込むことを推奨する。</a:t>
            </a:r>
          </a:p>
        </p:txBody>
      </p:sp>
      <p:sp>
        <p:nvSpPr>
          <p:cNvPr id="15" name="TextBox 14"/>
          <p:cNvSpPr txBox="1"/>
          <p:nvPr/>
        </p:nvSpPr>
        <p:spPr>
          <a:xfrm>
            <a:off x="11076127" y="6473952"/>
            <a:ext cx="548640" cy="219456"/>
          </a:xfrm>
          <a:prstGeom prst="rect">
            <a:avLst/>
          </a:prstGeom>
          <a:noFill/>
        </p:spPr>
        <p:txBody>
          <a:bodyPr wrap="square" anchor="t" lIns="0" rIns="0" tIns="0" bIns="0">
            <a:spAutoFit/>
          </a:bodyPr>
          <a:lstStyle/>
          <a:p>
            <a:pPr algn="r" eaLnBrk="1" hangingPunct="1">
              <a:lnSpc>
                <a:spcPct val="130000"/>
              </a:lnSpc>
              <a:spcBef>
                <a:spcPts val="0"/>
              </a:spcBef>
              <a:spcAft>
                <a:spcPts val="0"/>
              </a:spcAft>
            </a:pPr>
            <a:r>
              <a:rPr sz="1000" b="0">
                <a:solidFill>
                  <a:srgbClr val="9AA5B1"/>
                </a:solidFill>
                <a:latin typeface="Calibri"/>
                <a:ea typeface="Yu Gothic"/>
                <a:cs typeface="Yu Gothic"/>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1041146" cy="274320"/>
          </a:xfrm>
          <a:prstGeom prst="roundRect">
            <a:avLst>
              <a:gd name="adj" fmla="val 35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150" b="1">
                <a:solidFill>
                  <a:srgbClr val="FFFFFF"/>
                </a:solidFill>
                <a:latin typeface="Calibri"/>
                <a:ea typeface="Yu Gothic"/>
                <a:cs typeface="Yu Gothic"/>
              </a:rPr>
              <a:t>アプローチ</a:t>
            </a:r>
          </a:p>
        </p:txBody>
      </p:sp>
      <p:sp>
        <p:nvSpPr>
          <p:cNvPr id="3" name="TextBox 2"/>
          <p:cNvSpPr txBox="1"/>
          <p:nvPr/>
        </p:nvSpPr>
        <p:spPr>
          <a:xfrm>
            <a:off x="566928" y="786384"/>
            <a:ext cx="11057839" cy="33528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2200" b="1">
                <a:solidFill>
                  <a:srgbClr val="1F2933"/>
                </a:solidFill>
                <a:latin typeface="Calibri"/>
                <a:ea typeface="Yu Gothic"/>
                <a:cs typeface="Yu Gothic"/>
              </a:rPr>
              <a:t>EDA の示唆を設計判断に落とし、実運用で成立する条件を満たすモデルを構築した</a:t>
            </a:r>
          </a:p>
        </p:txBody>
      </p:sp>
      <p:sp>
        <p:nvSpPr>
          <p:cNvPr id="4" name="TextBox 3"/>
          <p:cNvSpPr txBox="1"/>
          <p:nvPr/>
        </p:nvSpPr>
        <p:spPr>
          <a:xfrm>
            <a:off x="603504" y="1450848"/>
            <a:ext cx="3797091" cy="621792"/>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1">
                <a:solidFill>
                  <a:srgbClr val="52606D"/>
                </a:solidFill>
                <a:latin typeface="Calibri"/>
                <a:ea typeface="Yu Gothic"/>
                <a:cs typeface="Yu Gothic"/>
              </a:rPr>
              <a:t>EDA で分かったこと</a:t>
            </a:r>
          </a:p>
        </p:txBody>
      </p:sp>
      <p:sp>
        <p:nvSpPr>
          <p:cNvPr id="5" name="TextBox 4"/>
          <p:cNvSpPr txBox="1"/>
          <p:nvPr/>
        </p:nvSpPr>
        <p:spPr>
          <a:xfrm>
            <a:off x="4473747" y="1450848"/>
            <a:ext cx="4018248" cy="621792"/>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1">
                <a:solidFill>
                  <a:srgbClr val="52606D"/>
                </a:solidFill>
                <a:latin typeface="Calibri"/>
                <a:ea typeface="Yu Gothic"/>
                <a:cs typeface="Yu Gothic"/>
              </a:rPr>
              <a:t>設計上の判断</a:t>
            </a:r>
          </a:p>
        </p:txBody>
      </p:sp>
      <p:sp>
        <p:nvSpPr>
          <p:cNvPr id="6" name="TextBox 5"/>
          <p:cNvSpPr txBox="1"/>
          <p:nvPr/>
        </p:nvSpPr>
        <p:spPr>
          <a:xfrm>
            <a:off x="8565147" y="1450848"/>
            <a:ext cx="3023042" cy="621792"/>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1">
                <a:solidFill>
                  <a:srgbClr val="52606D"/>
                </a:solidFill>
                <a:latin typeface="Calibri"/>
                <a:ea typeface="Yu Gothic"/>
                <a:cs typeface="Yu Gothic"/>
              </a:rPr>
              <a:t>狙い</a:t>
            </a:r>
          </a:p>
        </p:txBody>
      </p:sp>
      <p:sp>
        <p:nvSpPr>
          <p:cNvPr id="7" name="Rectangle 6"/>
          <p:cNvSpPr/>
          <p:nvPr/>
        </p:nvSpPr>
        <p:spPr>
          <a:xfrm>
            <a:off x="566928" y="2045208"/>
            <a:ext cx="11057839" cy="9525"/>
          </a:xfrm>
          <a:prstGeom prst="rect">
            <a:avLst/>
          </a:prstGeom>
          <a:solidFill>
            <a:srgbClr val="D7DD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03504" y="2072640"/>
            <a:ext cx="3797091" cy="621792"/>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持続性が極めて強く、ETTh1 は温度帯が推移する</a:t>
            </a:r>
          </a:p>
        </p:txBody>
      </p:sp>
      <p:sp>
        <p:nvSpPr>
          <p:cNvPr id="9" name="TextBox 8"/>
          <p:cNvSpPr txBox="1"/>
          <p:nvPr/>
        </p:nvSpPr>
        <p:spPr>
          <a:xfrm>
            <a:off x="4473747" y="2072640"/>
            <a:ext cx="4018248" cy="621792"/>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温度そのものではなく「現在からの変化量」を予測</a:t>
            </a:r>
          </a:p>
        </p:txBody>
      </p:sp>
      <p:sp>
        <p:nvSpPr>
          <p:cNvPr id="10" name="TextBox 9"/>
          <p:cNvSpPr txBox="1"/>
          <p:nvPr/>
        </p:nvSpPr>
        <p:spPr>
          <a:xfrm>
            <a:off x="8565147" y="2072640"/>
            <a:ext cx="3023042" cy="621792"/>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学習範囲外への外挿破綻を回避</a:t>
            </a:r>
          </a:p>
        </p:txBody>
      </p:sp>
      <p:sp>
        <p:nvSpPr>
          <p:cNvPr id="11" name="TextBox 10"/>
          <p:cNvSpPr txBox="1"/>
          <p:nvPr/>
        </p:nvSpPr>
        <p:spPr>
          <a:xfrm>
            <a:off x="603504" y="2694432"/>
            <a:ext cx="3797091" cy="621792"/>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未来の負荷は予測時点で未知</a:t>
            </a:r>
          </a:p>
        </p:txBody>
      </p:sp>
      <p:sp>
        <p:nvSpPr>
          <p:cNvPr id="12" name="TextBox 11"/>
          <p:cNvSpPr txBox="1"/>
          <p:nvPr/>
        </p:nvSpPr>
        <p:spPr>
          <a:xfrm>
            <a:off x="4473747" y="2694432"/>
            <a:ext cx="4018248" cy="621792"/>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特徴量は温度・負荷の過去値と時刻特徴のみ</a:t>
            </a:r>
          </a:p>
        </p:txBody>
      </p:sp>
      <p:sp>
        <p:nvSpPr>
          <p:cNvPr id="13" name="TextBox 12"/>
          <p:cNvSpPr txBox="1"/>
          <p:nvPr/>
        </p:nvSpPr>
        <p:spPr>
          <a:xfrm>
            <a:off x="8565147" y="2694432"/>
            <a:ext cx="3023042" cy="621792"/>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実運用で成立する条件を担保(リーク回避)</a:t>
            </a:r>
          </a:p>
        </p:txBody>
      </p:sp>
      <p:sp>
        <p:nvSpPr>
          <p:cNvPr id="14" name="TextBox 13"/>
          <p:cNvSpPr txBox="1"/>
          <p:nvPr/>
        </p:nvSpPr>
        <p:spPr>
          <a:xfrm>
            <a:off x="603504" y="3316224"/>
            <a:ext cx="3797091" cy="621792"/>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ETTh2 は日内周期が強い</a:t>
            </a:r>
          </a:p>
        </p:txBody>
      </p:sp>
      <p:sp>
        <p:nvSpPr>
          <p:cNvPr id="15" name="TextBox 14"/>
          <p:cNvSpPr txBox="1"/>
          <p:nvPr/>
        </p:nvSpPr>
        <p:spPr>
          <a:xfrm>
            <a:off x="4473747" y="3316224"/>
            <a:ext cx="4018248" cy="621792"/>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時刻の sin/cos と 24 時間前後のラグを投入</a:t>
            </a:r>
          </a:p>
        </p:txBody>
      </p:sp>
      <p:sp>
        <p:nvSpPr>
          <p:cNvPr id="16" name="TextBox 15"/>
          <p:cNvSpPr txBox="1"/>
          <p:nvPr/>
        </p:nvSpPr>
        <p:spPr>
          <a:xfrm>
            <a:off x="8565147" y="3316224"/>
            <a:ext cx="3023042" cy="621792"/>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周期構造を明示的に学習</a:t>
            </a:r>
          </a:p>
        </p:txBody>
      </p:sp>
      <p:sp>
        <p:nvSpPr>
          <p:cNvPr id="17" name="TextBox 16"/>
          <p:cNvSpPr txBox="1"/>
          <p:nvPr/>
        </p:nvSpPr>
        <p:spPr>
          <a:xfrm>
            <a:off x="603504" y="3938016"/>
            <a:ext cx="3797091" cy="621792"/>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負荷との相関が弱い</a:t>
            </a:r>
          </a:p>
        </p:txBody>
      </p:sp>
      <p:sp>
        <p:nvSpPr>
          <p:cNvPr id="18" name="TextBox 17"/>
          <p:cNvSpPr txBox="1"/>
          <p:nvPr/>
        </p:nvSpPr>
        <p:spPr>
          <a:xfrm>
            <a:off x="4473747" y="3938016"/>
            <a:ext cx="4018248" cy="621792"/>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負荷ラグ 有り / 無し / 未来値あり の 3 条件を比較</a:t>
            </a:r>
          </a:p>
        </p:txBody>
      </p:sp>
      <p:sp>
        <p:nvSpPr>
          <p:cNvPr id="19" name="TextBox 18"/>
          <p:cNvSpPr txBox="1"/>
          <p:nvPr/>
        </p:nvSpPr>
        <p:spPr>
          <a:xfrm>
            <a:off x="8565147" y="3938016"/>
            <a:ext cx="3023042" cy="621792"/>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負荷データ収集の必要性を定量判断</a:t>
            </a:r>
          </a:p>
        </p:txBody>
      </p:sp>
      <p:sp>
        <p:nvSpPr>
          <p:cNvPr id="20" name="TextBox 19"/>
          <p:cNvSpPr txBox="1"/>
          <p:nvPr/>
        </p:nvSpPr>
        <p:spPr>
          <a:xfrm>
            <a:off x="603504" y="4559808"/>
            <a:ext cx="3797091" cy="621792"/>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固定テスト期間では高温期が偏る</a:t>
            </a:r>
          </a:p>
        </p:txBody>
      </p:sp>
      <p:sp>
        <p:nvSpPr>
          <p:cNvPr id="21" name="TextBox 20"/>
          <p:cNvSpPr txBox="1"/>
          <p:nvPr/>
        </p:nvSpPr>
        <p:spPr>
          <a:xfrm>
            <a:off x="4473747" y="4559808"/>
            <a:ext cx="4018248" cy="621792"/>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12 ヶ月の月次ローリング検証</a:t>
            </a:r>
          </a:p>
        </p:txBody>
      </p:sp>
      <p:sp>
        <p:nvSpPr>
          <p:cNvPr id="22" name="TextBox 21"/>
          <p:cNvSpPr txBox="1"/>
          <p:nvPr/>
        </p:nvSpPr>
        <p:spPr>
          <a:xfrm>
            <a:off x="8565147" y="4559808"/>
            <a:ext cx="3023042" cy="621792"/>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全季節での性能を確認し運用形態を再現</a:t>
            </a:r>
          </a:p>
        </p:txBody>
      </p:sp>
      <p:sp>
        <p:nvSpPr>
          <p:cNvPr id="23" name="TextBox 22"/>
          <p:cNvSpPr txBox="1"/>
          <p:nvPr/>
        </p:nvSpPr>
        <p:spPr>
          <a:xfrm>
            <a:off x="566928" y="5529072"/>
            <a:ext cx="11057839" cy="572770"/>
          </a:xfrm>
          <a:prstGeom prst="rect">
            <a:avLst/>
          </a:prstGeom>
          <a:noFill/>
        </p:spPr>
        <p:txBody>
          <a:bodyPr wrap="square" anchor="t" lIns="0" rIns="0" tIns="0" bIns="0">
            <a:spAutoFit/>
          </a:bodyPr>
          <a:lstStyle/>
          <a:p>
            <a:pPr algn="l" eaLnBrk="1" hangingPunct="1">
              <a:lnSpc>
                <a:spcPct val="130000"/>
              </a:lnSpc>
              <a:spcBef>
                <a:spcPts val="0"/>
              </a:spcBef>
              <a:spcAft>
                <a:spcPts val="500"/>
              </a:spcAft>
            </a:pPr>
            <a:r>
              <a:rPr sz="1350" b="0">
                <a:solidFill>
                  <a:srgbClr val="1F2933"/>
                </a:solidFill>
                <a:latin typeface="Calibri"/>
                <a:ea typeface="Yu Gothic"/>
                <a:cs typeface="Yu Gothic"/>
              </a:rPr>
              <a:t>モデルは LightGBM を主軸に選定。特徴量重要度で予測根拠を説明でき、学習が数十秒で済むため月次再学習の運用に乗せやすい。</a:t>
            </a:r>
          </a:p>
          <a:p>
            <a:pPr algn="l" eaLnBrk="1" hangingPunct="1">
              <a:lnSpc>
                <a:spcPct val="130000"/>
              </a:lnSpc>
              <a:spcBef>
                <a:spcPts val="0"/>
              </a:spcBef>
              <a:spcAft>
                <a:spcPts val="500"/>
              </a:spcAft>
            </a:pPr>
            <a:r>
              <a:rPr sz="1350" b="0">
                <a:solidFill>
                  <a:srgbClr val="52606D"/>
                </a:solidFill>
                <a:latin typeface="Calibri"/>
                <a:ea typeface="Yu Gothic"/>
                <a:cs typeface="Yu Gothic"/>
              </a:rPr>
              <a:t>比較対象として persistence(現状相当)と seasonal naive(前日同時刻)を全ホライズンで併走させた。</a:t>
            </a:r>
          </a:p>
        </p:txBody>
      </p:sp>
      <p:sp>
        <p:nvSpPr>
          <p:cNvPr id="24" name="TextBox 23"/>
          <p:cNvSpPr txBox="1"/>
          <p:nvPr/>
        </p:nvSpPr>
        <p:spPr>
          <a:xfrm>
            <a:off x="11076127" y="6473952"/>
            <a:ext cx="548640" cy="219456"/>
          </a:xfrm>
          <a:prstGeom prst="rect">
            <a:avLst/>
          </a:prstGeom>
          <a:noFill/>
        </p:spPr>
        <p:txBody>
          <a:bodyPr wrap="square" anchor="t" lIns="0" rIns="0" tIns="0" bIns="0">
            <a:spAutoFit/>
          </a:bodyPr>
          <a:lstStyle/>
          <a:p>
            <a:pPr algn="r" eaLnBrk="1" hangingPunct="1">
              <a:lnSpc>
                <a:spcPct val="130000"/>
              </a:lnSpc>
              <a:spcBef>
                <a:spcPts val="0"/>
              </a:spcBef>
              <a:spcAft>
                <a:spcPts val="0"/>
              </a:spcAft>
            </a:pPr>
            <a:r>
              <a:rPr sz="1000" b="0">
                <a:solidFill>
                  <a:srgbClr val="9AA5B1"/>
                </a:solidFill>
                <a:latin typeface="Calibri"/>
                <a:ea typeface="Yu Gothic"/>
                <a:cs typeface="Yu Gothic"/>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1041146" cy="274320"/>
          </a:xfrm>
          <a:prstGeom prst="roundRect">
            <a:avLst>
              <a:gd name="adj" fmla="val 35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150" b="1">
                <a:solidFill>
                  <a:srgbClr val="FFFFFF"/>
                </a:solidFill>
                <a:latin typeface="Calibri"/>
                <a:ea typeface="Yu Gothic"/>
                <a:cs typeface="Yu Gothic"/>
              </a:rPr>
              <a:t>アプローチ</a:t>
            </a:r>
          </a:p>
        </p:txBody>
      </p:sp>
      <p:sp>
        <p:nvSpPr>
          <p:cNvPr id="3" name="TextBox 2"/>
          <p:cNvSpPr txBox="1"/>
          <p:nvPr/>
        </p:nvSpPr>
        <p:spPr>
          <a:xfrm>
            <a:off x="566928" y="786384"/>
            <a:ext cx="11057839" cy="33528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2200" b="1">
                <a:solidFill>
                  <a:srgbClr val="1F2933"/>
                </a:solidFill>
                <a:latin typeface="Calibri"/>
                <a:ea typeface="Yu Gothic"/>
                <a:cs typeface="Yu Gothic"/>
              </a:rPr>
              <a:t>「毎月再学習して翌月を予測する」運用を再現するローリング検証で評価した</a:t>
            </a:r>
          </a:p>
        </p:txBody>
      </p:sp>
      <p:sp>
        <p:nvSpPr>
          <p:cNvPr id="4" name="Rounded Rectangle 3"/>
          <p:cNvSpPr/>
          <p:nvPr/>
        </p:nvSpPr>
        <p:spPr>
          <a:xfrm>
            <a:off x="612648" y="1542288"/>
            <a:ext cx="7770571" cy="384048"/>
          </a:xfrm>
          <a:prstGeom prst="roundRect">
            <a:avLst>
              <a:gd name="adj" fmla="val 18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0" tIns="0" bIns="0"/>
          <a:lstStyle/>
          <a:p>
            <a:pPr algn="l" eaLnBrk="1" hangingPunct="1">
              <a:lnSpc>
                <a:spcPct val="130000"/>
              </a:lnSpc>
              <a:spcBef>
                <a:spcPts val="0"/>
              </a:spcBef>
              <a:spcAft>
                <a:spcPts val="0"/>
              </a:spcAft>
            </a:pPr>
            <a:r>
              <a:rPr sz="1200" b="0">
                <a:solidFill>
                  <a:srgbClr val="52606D"/>
                </a:solidFill>
                <a:latin typeface="Calibri"/>
                <a:ea typeface="Yu Gothic"/>
                <a:cs typeface="Yu Gothic"/>
              </a:rPr>
              <a:t>2016-07 〜 2017-06 のデータで学習</a:t>
            </a:r>
          </a:p>
        </p:txBody>
      </p:sp>
      <p:sp>
        <p:nvSpPr>
          <p:cNvPr id="5" name="Rounded Rectangle 4"/>
          <p:cNvSpPr/>
          <p:nvPr/>
        </p:nvSpPr>
        <p:spPr>
          <a:xfrm>
            <a:off x="8447227" y="1542288"/>
            <a:ext cx="3046781" cy="384048"/>
          </a:xfrm>
          <a:prstGeom prst="roundRect">
            <a:avLst>
              <a:gd name="adj" fmla="val 18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200" b="1">
                <a:solidFill>
                  <a:srgbClr val="FFFFFF"/>
                </a:solidFill>
                <a:latin typeface="Calibri"/>
                <a:ea typeface="Yu Gothic"/>
                <a:cs typeface="Yu Gothic"/>
              </a:rPr>
              <a:t>2017-07 を予測</a:t>
            </a:r>
          </a:p>
        </p:txBody>
      </p:sp>
      <p:sp>
        <p:nvSpPr>
          <p:cNvPr id="6" name="Rounded Rectangle 5"/>
          <p:cNvSpPr/>
          <p:nvPr/>
        </p:nvSpPr>
        <p:spPr>
          <a:xfrm>
            <a:off x="612648" y="2054352"/>
            <a:ext cx="8205825" cy="384048"/>
          </a:xfrm>
          <a:prstGeom prst="roundRect">
            <a:avLst>
              <a:gd name="adj" fmla="val 18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0" tIns="0" bIns="0"/>
          <a:lstStyle/>
          <a:p>
            <a:pPr algn="l" eaLnBrk="1" hangingPunct="1">
              <a:lnSpc>
                <a:spcPct val="130000"/>
              </a:lnSpc>
              <a:spcBef>
                <a:spcPts val="0"/>
              </a:spcBef>
              <a:spcAft>
                <a:spcPts val="0"/>
              </a:spcAft>
            </a:pPr>
            <a:r>
              <a:rPr sz="1200" b="0">
                <a:solidFill>
                  <a:srgbClr val="52606D"/>
                </a:solidFill>
                <a:latin typeface="Calibri"/>
                <a:ea typeface="Yu Gothic"/>
                <a:cs typeface="Yu Gothic"/>
              </a:rPr>
              <a:t>2016-07 〜 2017-07 のデータで学習</a:t>
            </a:r>
          </a:p>
        </p:txBody>
      </p:sp>
      <p:sp>
        <p:nvSpPr>
          <p:cNvPr id="7" name="Rounded Rectangle 6"/>
          <p:cNvSpPr/>
          <p:nvPr/>
        </p:nvSpPr>
        <p:spPr>
          <a:xfrm>
            <a:off x="8882481" y="2054352"/>
            <a:ext cx="2611527" cy="384048"/>
          </a:xfrm>
          <a:prstGeom prst="roundRect">
            <a:avLst>
              <a:gd name="adj" fmla="val 18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200" b="1">
                <a:solidFill>
                  <a:srgbClr val="FFFFFF"/>
                </a:solidFill>
                <a:latin typeface="Calibri"/>
                <a:ea typeface="Yu Gothic"/>
                <a:cs typeface="Yu Gothic"/>
              </a:rPr>
              <a:t>2017-08 を予測</a:t>
            </a:r>
          </a:p>
        </p:txBody>
      </p:sp>
      <p:sp>
        <p:nvSpPr>
          <p:cNvPr id="8" name="Rounded Rectangle 7"/>
          <p:cNvSpPr/>
          <p:nvPr/>
        </p:nvSpPr>
        <p:spPr>
          <a:xfrm>
            <a:off x="612648" y="2566416"/>
            <a:ext cx="8641080" cy="384048"/>
          </a:xfrm>
          <a:prstGeom prst="roundRect">
            <a:avLst>
              <a:gd name="adj" fmla="val 18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0" tIns="0" bIns="0"/>
          <a:lstStyle/>
          <a:p>
            <a:pPr algn="l" eaLnBrk="1" hangingPunct="1">
              <a:lnSpc>
                <a:spcPct val="130000"/>
              </a:lnSpc>
              <a:spcBef>
                <a:spcPts val="0"/>
              </a:spcBef>
              <a:spcAft>
                <a:spcPts val="0"/>
              </a:spcAft>
            </a:pPr>
            <a:r>
              <a:rPr sz="1200" b="0">
                <a:solidFill>
                  <a:srgbClr val="52606D"/>
                </a:solidFill>
                <a:latin typeface="Calibri"/>
                <a:ea typeface="Yu Gothic"/>
                <a:cs typeface="Yu Gothic"/>
              </a:rPr>
              <a:t>…</a:t>
            </a:r>
          </a:p>
        </p:txBody>
      </p:sp>
      <p:sp>
        <p:nvSpPr>
          <p:cNvPr id="9" name="Rounded Rectangle 8"/>
          <p:cNvSpPr/>
          <p:nvPr/>
        </p:nvSpPr>
        <p:spPr>
          <a:xfrm>
            <a:off x="9317736" y="2566416"/>
            <a:ext cx="2176272" cy="384048"/>
          </a:xfrm>
          <a:prstGeom prst="roundRect">
            <a:avLst>
              <a:gd name="adj" fmla="val 18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200" b="1">
                <a:solidFill>
                  <a:srgbClr val="FFFFFF"/>
                </a:solidFill>
                <a:latin typeface="Calibri"/>
                <a:ea typeface="Yu Gothic"/>
                <a:cs typeface="Yu Gothic"/>
              </a:rPr>
              <a:t>…</a:t>
            </a:r>
          </a:p>
        </p:txBody>
      </p:sp>
      <p:sp>
        <p:nvSpPr>
          <p:cNvPr id="10" name="Rounded Rectangle 9"/>
          <p:cNvSpPr/>
          <p:nvPr/>
        </p:nvSpPr>
        <p:spPr>
          <a:xfrm>
            <a:off x="612648" y="3078480"/>
            <a:ext cx="9076334" cy="384048"/>
          </a:xfrm>
          <a:prstGeom prst="roundRect">
            <a:avLst>
              <a:gd name="adj" fmla="val 18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0" tIns="0" bIns="0"/>
          <a:lstStyle/>
          <a:p>
            <a:pPr algn="l" eaLnBrk="1" hangingPunct="1">
              <a:lnSpc>
                <a:spcPct val="130000"/>
              </a:lnSpc>
              <a:spcBef>
                <a:spcPts val="0"/>
              </a:spcBef>
              <a:spcAft>
                <a:spcPts val="0"/>
              </a:spcAft>
            </a:pPr>
            <a:r>
              <a:rPr sz="1200" b="0">
                <a:solidFill>
                  <a:srgbClr val="52606D"/>
                </a:solidFill>
                <a:latin typeface="Calibri"/>
                <a:ea typeface="Yu Gothic"/>
                <a:cs typeface="Yu Gothic"/>
              </a:rPr>
              <a:t>2016-07 〜 2018-05 のデータで学習</a:t>
            </a:r>
          </a:p>
        </p:txBody>
      </p:sp>
      <p:sp>
        <p:nvSpPr>
          <p:cNvPr id="11" name="Rounded Rectangle 10"/>
          <p:cNvSpPr/>
          <p:nvPr/>
        </p:nvSpPr>
        <p:spPr>
          <a:xfrm>
            <a:off x="9752990" y="3078480"/>
            <a:ext cx="1741018" cy="384048"/>
          </a:xfrm>
          <a:prstGeom prst="roundRect">
            <a:avLst>
              <a:gd name="adj" fmla="val 18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200" b="1">
                <a:solidFill>
                  <a:srgbClr val="FFFFFF"/>
                </a:solidFill>
                <a:latin typeface="Calibri"/>
                <a:ea typeface="Yu Gothic"/>
                <a:cs typeface="Yu Gothic"/>
              </a:rPr>
              <a:t>2018-06 を予測</a:t>
            </a:r>
          </a:p>
        </p:txBody>
      </p:sp>
      <p:sp>
        <p:nvSpPr>
          <p:cNvPr id="12" name="TextBox 11"/>
          <p:cNvSpPr txBox="1"/>
          <p:nvPr/>
        </p:nvSpPr>
        <p:spPr>
          <a:xfrm>
            <a:off x="612648" y="3590544"/>
            <a:ext cx="10881360" cy="261620"/>
          </a:xfrm>
          <a:prstGeom prst="rect">
            <a:avLst/>
          </a:prstGeom>
          <a:noFill/>
        </p:spPr>
        <p:txBody>
          <a:bodyPr wrap="square" anchor="t" lIns="0" rIns="0" tIns="0" bIns="0">
            <a:spAutoFit/>
          </a:bodyPr>
          <a:lstStyle/>
          <a:p>
            <a:pPr algn="l" eaLnBrk="1" hangingPunct="1">
              <a:lnSpc>
                <a:spcPct val="130000"/>
              </a:lnSpc>
              <a:spcBef>
                <a:spcPts val="0"/>
              </a:spcBef>
              <a:spcAft>
                <a:spcPts val="500"/>
              </a:spcAft>
            </a:pPr>
            <a:r>
              <a:rPr sz="1200" b="0">
                <a:solidFill>
                  <a:srgbClr val="52606D"/>
                </a:solidFill>
                <a:latin typeface="Calibri"/>
                <a:ea typeface="Yu Gothic"/>
                <a:cs typeface="Yu Gothic"/>
              </a:rPr>
              <a:t>計 12 分割 × 5 ホライズン × 3 モデル条件 = 180 回の学習を両設備で実施</a:t>
            </a:r>
          </a:p>
        </p:txBody>
      </p:sp>
      <p:sp>
        <p:nvSpPr>
          <p:cNvPr id="13" name="Rounded Rectangle 12"/>
          <p:cNvSpPr/>
          <p:nvPr/>
        </p:nvSpPr>
        <p:spPr>
          <a:xfrm>
            <a:off x="566928" y="4047744"/>
            <a:ext cx="5382615" cy="1251077"/>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86384" y="4267200"/>
            <a:ext cx="4943703" cy="22860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1500" b="1">
                <a:solidFill>
                  <a:srgbClr val="1F2933"/>
                </a:solidFill>
                <a:latin typeface="Calibri"/>
                <a:ea typeface="Yu Gothic"/>
                <a:cs typeface="Yu Gothic"/>
              </a:rPr>
              <a:t>学習・評価から除外する行</a:t>
            </a:r>
          </a:p>
        </p:txBody>
      </p:sp>
      <p:sp>
        <p:nvSpPr>
          <p:cNvPr id="15" name="TextBox 14"/>
          <p:cNvSpPr txBox="1"/>
          <p:nvPr/>
        </p:nvSpPr>
        <p:spPr>
          <a:xfrm>
            <a:off x="786384" y="4587240"/>
            <a:ext cx="4943703" cy="492125"/>
          </a:xfrm>
          <a:prstGeom prst="rect">
            <a:avLst/>
          </a:prstGeom>
          <a:noFill/>
        </p:spPr>
        <p:txBody>
          <a:bodyPr wrap="square" anchor="t" lIns="0" rIns="0" tIns="0" bIns="0">
            <a:spAutoFit/>
          </a:bodyPr>
          <a:lstStyle/>
          <a:p>
            <a:pPr algn="l" eaLnBrk="1" hangingPunct="1">
              <a:lnSpc>
                <a:spcPct val="135000"/>
              </a:lnSpc>
              <a:spcBef>
                <a:spcPts val="0"/>
              </a:spcBef>
              <a:spcAft>
                <a:spcPts val="500"/>
              </a:spcAft>
            </a:pPr>
            <a:r>
              <a:rPr sz="1250" b="0">
                <a:solidFill>
                  <a:srgbClr val="52606D"/>
                </a:solidFill>
                <a:latin typeface="Calibri"/>
                <a:ea typeface="Yu Gothic"/>
                <a:cs typeface="Yu Gothic"/>
              </a:rPr>
              <a:t>品質フラグに該当する時刻 t、および t+h がフラグ該当となる行(予測対象が信用できないため)。</a:t>
            </a:r>
          </a:p>
        </p:txBody>
      </p:sp>
      <p:sp>
        <p:nvSpPr>
          <p:cNvPr id="16" name="Rounded Rectangle 15"/>
          <p:cNvSpPr/>
          <p:nvPr/>
        </p:nvSpPr>
        <p:spPr>
          <a:xfrm>
            <a:off x="6242151" y="4047744"/>
            <a:ext cx="5382615" cy="1251077"/>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61607" y="4267200"/>
            <a:ext cx="4943703" cy="22860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1500" b="1">
                <a:solidFill>
                  <a:srgbClr val="1F2933"/>
                </a:solidFill>
                <a:latin typeface="Calibri"/>
                <a:ea typeface="Yu Gothic"/>
                <a:cs typeface="Yu Gothic"/>
              </a:rPr>
              <a:t>リークの有無を自動テスト化</a:t>
            </a:r>
          </a:p>
        </p:txBody>
      </p:sp>
      <p:sp>
        <p:nvSpPr>
          <p:cNvPr id="18" name="TextBox 17"/>
          <p:cNvSpPr txBox="1"/>
          <p:nvPr/>
        </p:nvSpPr>
        <p:spPr>
          <a:xfrm>
            <a:off x="6461607" y="4587240"/>
            <a:ext cx="4943703" cy="492125"/>
          </a:xfrm>
          <a:prstGeom prst="rect">
            <a:avLst/>
          </a:prstGeom>
          <a:noFill/>
        </p:spPr>
        <p:txBody>
          <a:bodyPr wrap="square" anchor="t" lIns="0" rIns="0" tIns="0" bIns="0">
            <a:spAutoFit/>
          </a:bodyPr>
          <a:lstStyle/>
          <a:p>
            <a:pPr algn="l" eaLnBrk="1" hangingPunct="1">
              <a:lnSpc>
                <a:spcPct val="135000"/>
              </a:lnSpc>
              <a:spcBef>
                <a:spcPts val="0"/>
              </a:spcBef>
              <a:spcAft>
                <a:spcPts val="500"/>
              </a:spcAft>
            </a:pPr>
            <a:r>
              <a:rPr sz="1250" b="0">
                <a:solidFill>
                  <a:srgbClr val="52606D"/>
                </a:solidFill>
                <a:latin typeface="Calibri"/>
                <a:ea typeface="Yu Gothic"/>
                <a:cs typeface="Yu Gothic"/>
              </a:rPr>
              <a:t>「時刻 t 以降のデータを改変しても t の特徴量が一切変化しない」ことをテストで機械的に検証。</a:t>
            </a:r>
          </a:p>
        </p:txBody>
      </p:sp>
      <p:sp>
        <p:nvSpPr>
          <p:cNvPr id="19" name="TextBox 18"/>
          <p:cNvSpPr txBox="1"/>
          <p:nvPr/>
        </p:nvSpPr>
        <p:spPr>
          <a:xfrm>
            <a:off x="566928" y="6035040"/>
            <a:ext cx="11057839" cy="166687"/>
          </a:xfrm>
          <a:prstGeom prst="rect">
            <a:avLst/>
          </a:prstGeom>
          <a:noFill/>
        </p:spPr>
        <p:txBody>
          <a:bodyPr wrap="square" anchor="t" lIns="0" rIns="0" tIns="0" bIns="0">
            <a:spAutoFit/>
          </a:bodyPr>
          <a:lstStyle/>
          <a:p>
            <a:pPr algn="l" eaLnBrk="1" hangingPunct="1">
              <a:lnSpc>
                <a:spcPct val="125000"/>
              </a:lnSpc>
              <a:spcBef>
                <a:spcPts val="0"/>
              </a:spcBef>
              <a:spcAft>
                <a:spcPts val="0"/>
              </a:spcAft>
            </a:pPr>
            <a:r>
              <a:rPr sz="1050" b="0">
                <a:solidFill>
                  <a:srgbClr val="52606D"/>
                </a:solidFill>
                <a:latin typeface="Calibri"/>
                <a:ea typeface="Yu Gothic"/>
                <a:cs typeface="Yu Gothic"/>
              </a:rPr>
              <a:t>実装は src/ettpoc/backtest.py、テストは tests/ に 25 件(実装より先に記述)。</a:t>
            </a:r>
          </a:p>
        </p:txBody>
      </p:sp>
      <p:sp>
        <p:nvSpPr>
          <p:cNvPr id="20" name="TextBox 19"/>
          <p:cNvSpPr txBox="1"/>
          <p:nvPr/>
        </p:nvSpPr>
        <p:spPr>
          <a:xfrm>
            <a:off x="11076127" y="6473952"/>
            <a:ext cx="548640" cy="219456"/>
          </a:xfrm>
          <a:prstGeom prst="rect">
            <a:avLst/>
          </a:prstGeom>
          <a:noFill/>
        </p:spPr>
        <p:txBody>
          <a:bodyPr wrap="square" anchor="t" lIns="0" rIns="0" tIns="0" bIns="0">
            <a:spAutoFit/>
          </a:bodyPr>
          <a:lstStyle/>
          <a:p>
            <a:pPr algn="r" eaLnBrk="1" hangingPunct="1">
              <a:lnSpc>
                <a:spcPct val="130000"/>
              </a:lnSpc>
              <a:spcBef>
                <a:spcPts val="0"/>
              </a:spcBef>
              <a:spcAft>
                <a:spcPts val="0"/>
              </a:spcAft>
            </a:pPr>
            <a:r>
              <a:rPr sz="1000" b="0">
                <a:solidFill>
                  <a:srgbClr val="9AA5B1"/>
                </a:solidFill>
                <a:latin typeface="Calibri"/>
                <a:ea typeface="Yu Gothic"/>
                <a:cs typeface="Yu Gothic"/>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602996" cy="274320"/>
          </a:xfrm>
          <a:prstGeom prst="roundRect">
            <a:avLst>
              <a:gd name="adj" fmla="val 35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150" b="1">
                <a:solidFill>
                  <a:srgbClr val="FFFFFF"/>
                </a:solidFill>
                <a:latin typeface="Calibri"/>
                <a:ea typeface="Yu Gothic"/>
                <a:cs typeface="Yu Gothic"/>
              </a:rPr>
              <a:t>結果</a:t>
            </a:r>
          </a:p>
        </p:txBody>
      </p:sp>
      <p:sp>
        <p:nvSpPr>
          <p:cNvPr id="3" name="TextBox 2"/>
          <p:cNvSpPr txBox="1"/>
          <p:nvPr/>
        </p:nvSpPr>
        <p:spPr>
          <a:xfrm>
            <a:off x="566928" y="786384"/>
            <a:ext cx="11057839" cy="33528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2200" b="1">
                <a:solidFill>
                  <a:srgbClr val="1F2933"/>
                </a:solidFill>
                <a:latin typeface="Calibri"/>
                <a:ea typeface="Yu Gothic"/>
                <a:cs typeface="Yu Gothic"/>
              </a:rPr>
              <a:t>ETTh2 は 12 時間先まで誤差を 56〜59% 削減、ETTh1 は 17〜21% にとどまる</a:t>
            </a:r>
          </a:p>
        </p:txBody>
      </p:sp>
      <p:sp>
        <p:nvSpPr>
          <p:cNvPr id="4" name="TextBox 3"/>
          <p:cNvSpPr txBox="1"/>
          <p:nvPr/>
        </p:nvSpPr>
        <p:spPr>
          <a:xfrm>
            <a:off x="566928" y="1249680"/>
            <a:ext cx="11057839" cy="214630"/>
          </a:xfrm>
          <a:prstGeom prst="rect">
            <a:avLst/>
          </a:prstGeom>
          <a:noFill/>
        </p:spPr>
        <p:txBody>
          <a:bodyPr wrap="square" anchor="t" lIns="0" rIns="0" tIns="0" bIns="0">
            <a:spAutoFit/>
          </a:bodyPr>
          <a:lstStyle/>
          <a:p>
            <a:pPr algn="l" eaLnBrk="1" hangingPunct="1">
              <a:lnSpc>
                <a:spcPct val="130000"/>
              </a:lnSpc>
              <a:spcBef>
                <a:spcPts val="0"/>
              </a:spcBef>
              <a:spcAft>
                <a:spcPts val="0"/>
              </a:spcAft>
            </a:pPr>
            <a:r>
              <a:rPr sz="1300" b="0">
                <a:solidFill>
                  <a:srgbClr val="52606D"/>
                </a:solidFill>
                <a:latin typeface="Calibri"/>
                <a:ea typeface="Yu Gothic"/>
                <a:cs typeface="Yu Gothic"/>
              </a:rPr>
              <a:t>24 時間先はどちらの設備でも現状相当と差がつかない</a:t>
            </a:r>
          </a:p>
        </p:txBody>
      </p:sp>
      <p:pic>
        <p:nvPicPr>
          <p:cNvPr id="5" name="Picture 4" descr="slide_mae_by_horizon.png"/>
          <p:cNvPicPr>
            <a:picLocks noChangeAspect="1"/>
          </p:cNvPicPr>
          <p:nvPr/>
        </p:nvPicPr>
        <p:blipFill>
          <a:blip r:embed="rId2"/>
          <a:stretch>
            <a:fillRect/>
          </a:stretch>
        </p:blipFill>
        <p:spPr>
          <a:xfrm>
            <a:off x="2207227" y="1756918"/>
            <a:ext cx="7777241" cy="2743200"/>
          </a:xfrm>
          <a:prstGeom prst="rect">
            <a:avLst/>
          </a:prstGeom>
        </p:spPr>
      </p:pic>
      <p:sp>
        <p:nvSpPr>
          <p:cNvPr id="6" name="TextBox 5"/>
          <p:cNvSpPr txBox="1"/>
          <p:nvPr/>
        </p:nvSpPr>
        <p:spPr>
          <a:xfrm>
            <a:off x="2157984" y="4774438"/>
            <a:ext cx="2600553" cy="274320"/>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1">
                <a:solidFill>
                  <a:srgbClr val="52606D"/>
                </a:solidFill>
                <a:latin typeface="Calibri"/>
                <a:ea typeface="Yu Gothic"/>
                <a:cs typeface="Yu Gothic"/>
              </a:rPr>
              <a:t>MAE [°C]</a:t>
            </a:r>
          </a:p>
        </p:txBody>
      </p:sp>
      <p:sp>
        <p:nvSpPr>
          <p:cNvPr id="7" name="TextBox 6"/>
          <p:cNvSpPr txBox="1"/>
          <p:nvPr/>
        </p:nvSpPr>
        <p:spPr>
          <a:xfrm>
            <a:off x="4831689" y="477443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1">
                <a:solidFill>
                  <a:srgbClr val="52606D"/>
                </a:solidFill>
                <a:latin typeface="Calibri"/>
                <a:ea typeface="Yu Gothic"/>
                <a:cs typeface="Yu Gothic"/>
              </a:rPr>
              <a:t>1h</a:t>
            </a:r>
          </a:p>
        </p:txBody>
      </p:sp>
      <p:sp>
        <p:nvSpPr>
          <p:cNvPr id="8" name="TextBox 7"/>
          <p:cNvSpPr txBox="1"/>
          <p:nvPr/>
        </p:nvSpPr>
        <p:spPr>
          <a:xfrm>
            <a:off x="5869715" y="477443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1">
                <a:solidFill>
                  <a:srgbClr val="52606D"/>
                </a:solidFill>
                <a:latin typeface="Calibri"/>
                <a:ea typeface="Yu Gothic"/>
                <a:cs typeface="Yu Gothic"/>
              </a:rPr>
              <a:t>3h</a:t>
            </a:r>
          </a:p>
        </p:txBody>
      </p:sp>
      <p:sp>
        <p:nvSpPr>
          <p:cNvPr id="9" name="TextBox 8"/>
          <p:cNvSpPr txBox="1"/>
          <p:nvPr/>
        </p:nvSpPr>
        <p:spPr>
          <a:xfrm>
            <a:off x="6907741" y="477443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1">
                <a:solidFill>
                  <a:srgbClr val="52606D"/>
                </a:solidFill>
                <a:latin typeface="Calibri"/>
                <a:ea typeface="Yu Gothic"/>
                <a:cs typeface="Yu Gothic"/>
              </a:rPr>
              <a:t>6h</a:t>
            </a:r>
          </a:p>
        </p:txBody>
      </p:sp>
      <p:sp>
        <p:nvSpPr>
          <p:cNvPr id="10" name="TextBox 9"/>
          <p:cNvSpPr txBox="1"/>
          <p:nvPr/>
        </p:nvSpPr>
        <p:spPr>
          <a:xfrm>
            <a:off x="7945767" y="477443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1">
                <a:solidFill>
                  <a:srgbClr val="52606D"/>
                </a:solidFill>
                <a:latin typeface="Calibri"/>
                <a:ea typeface="Yu Gothic"/>
                <a:cs typeface="Yu Gothic"/>
              </a:rPr>
              <a:t>12h</a:t>
            </a:r>
          </a:p>
        </p:txBody>
      </p:sp>
      <p:sp>
        <p:nvSpPr>
          <p:cNvPr id="11" name="TextBox 10"/>
          <p:cNvSpPr txBox="1"/>
          <p:nvPr/>
        </p:nvSpPr>
        <p:spPr>
          <a:xfrm>
            <a:off x="8983793" y="477443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1">
                <a:solidFill>
                  <a:srgbClr val="52606D"/>
                </a:solidFill>
                <a:latin typeface="Calibri"/>
                <a:ea typeface="Yu Gothic"/>
                <a:cs typeface="Yu Gothic"/>
              </a:rPr>
              <a:t>24h</a:t>
            </a:r>
          </a:p>
        </p:txBody>
      </p:sp>
      <p:sp>
        <p:nvSpPr>
          <p:cNvPr id="12" name="Rectangle 11"/>
          <p:cNvSpPr/>
          <p:nvPr/>
        </p:nvSpPr>
        <p:spPr>
          <a:xfrm>
            <a:off x="2121408" y="5021326"/>
            <a:ext cx="7863840" cy="9525"/>
          </a:xfrm>
          <a:prstGeom prst="rect">
            <a:avLst/>
          </a:prstGeom>
          <a:solidFill>
            <a:srgbClr val="D7DD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157984" y="5048758"/>
            <a:ext cx="2600553" cy="274320"/>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ETTh1  現状相当</a:t>
            </a:r>
          </a:p>
        </p:txBody>
      </p:sp>
      <p:sp>
        <p:nvSpPr>
          <p:cNvPr id="14" name="TextBox 13"/>
          <p:cNvSpPr txBox="1"/>
          <p:nvPr/>
        </p:nvSpPr>
        <p:spPr>
          <a:xfrm>
            <a:off x="4831689" y="504875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1F2933"/>
                </a:solidFill>
                <a:latin typeface="Calibri"/>
                <a:ea typeface="Yu Gothic"/>
                <a:cs typeface="Yu Gothic"/>
              </a:rPr>
              <a:t>0.50</a:t>
            </a:r>
          </a:p>
        </p:txBody>
      </p:sp>
      <p:sp>
        <p:nvSpPr>
          <p:cNvPr id="15" name="TextBox 14"/>
          <p:cNvSpPr txBox="1"/>
          <p:nvPr/>
        </p:nvSpPr>
        <p:spPr>
          <a:xfrm>
            <a:off x="5869715" y="504875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1F2933"/>
                </a:solidFill>
                <a:latin typeface="Calibri"/>
                <a:ea typeface="Yu Gothic"/>
                <a:cs typeface="Yu Gothic"/>
              </a:rPr>
              <a:t>0.91</a:t>
            </a:r>
          </a:p>
        </p:txBody>
      </p:sp>
      <p:sp>
        <p:nvSpPr>
          <p:cNvPr id="16" name="TextBox 15"/>
          <p:cNvSpPr txBox="1"/>
          <p:nvPr/>
        </p:nvSpPr>
        <p:spPr>
          <a:xfrm>
            <a:off x="6907741" y="504875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1F2933"/>
                </a:solidFill>
                <a:latin typeface="Calibri"/>
                <a:ea typeface="Yu Gothic"/>
                <a:cs typeface="Yu Gothic"/>
              </a:rPr>
              <a:t>1.32</a:t>
            </a:r>
          </a:p>
        </p:txBody>
      </p:sp>
      <p:sp>
        <p:nvSpPr>
          <p:cNvPr id="17" name="TextBox 16"/>
          <p:cNvSpPr txBox="1"/>
          <p:nvPr/>
        </p:nvSpPr>
        <p:spPr>
          <a:xfrm>
            <a:off x="7945767" y="504875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1F2933"/>
                </a:solidFill>
                <a:latin typeface="Calibri"/>
                <a:ea typeface="Yu Gothic"/>
                <a:cs typeface="Yu Gothic"/>
              </a:rPr>
              <a:t>1.73</a:t>
            </a:r>
          </a:p>
        </p:txBody>
      </p:sp>
      <p:sp>
        <p:nvSpPr>
          <p:cNvPr id="18" name="TextBox 17"/>
          <p:cNvSpPr txBox="1"/>
          <p:nvPr/>
        </p:nvSpPr>
        <p:spPr>
          <a:xfrm>
            <a:off x="8983793" y="504875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1F2933"/>
                </a:solidFill>
                <a:latin typeface="Calibri"/>
                <a:ea typeface="Yu Gothic"/>
                <a:cs typeface="Yu Gothic"/>
              </a:rPr>
              <a:t>1.74</a:t>
            </a:r>
          </a:p>
        </p:txBody>
      </p:sp>
      <p:sp>
        <p:nvSpPr>
          <p:cNvPr id="19" name="Rounded Rectangle 18"/>
          <p:cNvSpPr/>
          <p:nvPr/>
        </p:nvSpPr>
        <p:spPr>
          <a:xfrm>
            <a:off x="2048256" y="5323078"/>
            <a:ext cx="8010144" cy="274320"/>
          </a:xfrm>
          <a:prstGeom prst="roundRect">
            <a:avLst>
              <a:gd name="adj" fmla="val 14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157984" y="5323078"/>
            <a:ext cx="2600553" cy="274320"/>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1">
                <a:solidFill>
                  <a:srgbClr val="E8833A"/>
                </a:solidFill>
                <a:latin typeface="Calibri"/>
                <a:ea typeface="Yu Gothic"/>
                <a:cs typeface="Yu Gothic"/>
              </a:rPr>
              <a:t>ETTh1  LightGBM</a:t>
            </a:r>
          </a:p>
        </p:txBody>
      </p:sp>
      <p:sp>
        <p:nvSpPr>
          <p:cNvPr id="21" name="TextBox 20"/>
          <p:cNvSpPr txBox="1"/>
          <p:nvPr/>
        </p:nvSpPr>
        <p:spPr>
          <a:xfrm>
            <a:off x="4831689" y="532307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E8833A"/>
                </a:solidFill>
                <a:latin typeface="Calibri"/>
                <a:ea typeface="Yu Gothic"/>
                <a:cs typeface="Yu Gothic"/>
              </a:rPr>
              <a:t>0.46</a:t>
            </a:r>
          </a:p>
        </p:txBody>
      </p:sp>
      <p:sp>
        <p:nvSpPr>
          <p:cNvPr id="22" name="TextBox 21"/>
          <p:cNvSpPr txBox="1"/>
          <p:nvPr/>
        </p:nvSpPr>
        <p:spPr>
          <a:xfrm>
            <a:off x="5869715" y="532307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E8833A"/>
                </a:solidFill>
                <a:latin typeface="Calibri"/>
                <a:ea typeface="Yu Gothic"/>
                <a:cs typeface="Yu Gothic"/>
              </a:rPr>
              <a:t>0.75</a:t>
            </a:r>
          </a:p>
        </p:txBody>
      </p:sp>
      <p:sp>
        <p:nvSpPr>
          <p:cNvPr id="23" name="TextBox 22"/>
          <p:cNvSpPr txBox="1"/>
          <p:nvPr/>
        </p:nvSpPr>
        <p:spPr>
          <a:xfrm>
            <a:off x="6907741" y="532307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E8833A"/>
                </a:solidFill>
                <a:latin typeface="Calibri"/>
                <a:ea typeface="Yu Gothic"/>
                <a:cs typeface="Yu Gothic"/>
              </a:rPr>
              <a:t>1.04</a:t>
            </a:r>
          </a:p>
        </p:txBody>
      </p:sp>
      <p:sp>
        <p:nvSpPr>
          <p:cNvPr id="24" name="TextBox 23"/>
          <p:cNvSpPr txBox="1"/>
          <p:nvPr/>
        </p:nvSpPr>
        <p:spPr>
          <a:xfrm>
            <a:off x="7945767" y="532307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E8833A"/>
                </a:solidFill>
                <a:latin typeface="Calibri"/>
                <a:ea typeface="Yu Gothic"/>
                <a:cs typeface="Yu Gothic"/>
              </a:rPr>
              <a:t>1.37</a:t>
            </a:r>
          </a:p>
        </p:txBody>
      </p:sp>
      <p:sp>
        <p:nvSpPr>
          <p:cNvPr id="25" name="TextBox 24"/>
          <p:cNvSpPr txBox="1"/>
          <p:nvPr/>
        </p:nvSpPr>
        <p:spPr>
          <a:xfrm>
            <a:off x="8983793" y="532307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E8833A"/>
                </a:solidFill>
                <a:latin typeface="Calibri"/>
                <a:ea typeface="Yu Gothic"/>
                <a:cs typeface="Yu Gothic"/>
              </a:rPr>
              <a:t>1.73</a:t>
            </a:r>
          </a:p>
        </p:txBody>
      </p:sp>
      <p:sp>
        <p:nvSpPr>
          <p:cNvPr id="26" name="TextBox 25"/>
          <p:cNvSpPr txBox="1"/>
          <p:nvPr/>
        </p:nvSpPr>
        <p:spPr>
          <a:xfrm>
            <a:off x="2157984" y="5597398"/>
            <a:ext cx="2600553" cy="274320"/>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ETTh2  現状相当</a:t>
            </a:r>
          </a:p>
        </p:txBody>
      </p:sp>
      <p:sp>
        <p:nvSpPr>
          <p:cNvPr id="27" name="TextBox 26"/>
          <p:cNvSpPr txBox="1"/>
          <p:nvPr/>
        </p:nvSpPr>
        <p:spPr>
          <a:xfrm>
            <a:off x="4831689" y="559739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1F2933"/>
                </a:solidFill>
                <a:latin typeface="Calibri"/>
                <a:ea typeface="Yu Gothic"/>
                <a:cs typeface="Yu Gothic"/>
              </a:rPr>
              <a:t>0.91</a:t>
            </a:r>
          </a:p>
        </p:txBody>
      </p:sp>
      <p:sp>
        <p:nvSpPr>
          <p:cNvPr id="28" name="TextBox 27"/>
          <p:cNvSpPr txBox="1"/>
          <p:nvPr/>
        </p:nvSpPr>
        <p:spPr>
          <a:xfrm>
            <a:off x="5869715" y="559739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1F2933"/>
                </a:solidFill>
                <a:latin typeface="Calibri"/>
                <a:ea typeface="Yu Gothic"/>
                <a:cs typeface="Yu Gothic"/>
              </a:rPr>
              <a:t>2.52</a:t>
            </a:r>
          </a:p>
        </p:txBody>
      </p:sp>
      <p:sp>
        <p:nvSpPr>
          <p:cNvPr id="29" name="TextBox 28"/>
          <p:cNvSpPr txBox="1"/>
          <p:nvPr/>
        </p:nvSpPr>
        <p:spPr>
          <a:xfrm>
            <a:off x="6907741" y="559739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1F2933"/>
                </a:solidFill>
                <a:latin typeface="Calibri"/>
                <a:ea typeface="Yu Gothic"/>
                <a:cs typeface="Yu Gothic"/>
              </a:rPr>
              <a:t>4.39</a:t>
            </a:r>
          </a:p>
        </p:txBody>
      </p:sp>
      <p:sp>
        <p:nvSpPr>
          <p:cNvPr id="30" name="TextBox 29"/>
          <p:cNvSpPr txBox="1"/>
          <p:nvPr/>
        </p:nvSpPr>
        <p:spPr>
          <a:xfrm>
            <a:off x="7945767" y="559739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1F2933"/>
                </a:solidFill>
                <a:latin typeface="Calibri"/>
                <a:ea typeface="Yu Gothic"/>
                <a:cs typeface="Yu Gothic"/>
              </a:rPr>
              <a:t>6.02</a:t>
            </a:r>
          </a:p>
        </p:txBody>
      </p:sp>
      <p:sp>
        <p:nvSpPr>
          <p:cNvPr id="31" name="TextBox 30"/>
          <p:cNvSpPr txBox="1"/>
          <p:nvPr/>
        </p:nvSpPr>
        <p:spPr>
          <a:xfrm>
            <a:off x="8983793" y="559739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1F2933"/>
                </a:solidFill>
                <a:latin typeface="Calibri"/>
                <a:ea typeface="Yu Gothic"/>
                <a:cs typeface="Yu Gothic"/>
              </a:rPr>
              <a:t>3.12</a:t>
            </a:r>
          </a:p>
        </p:txBody>
      </p:sp>
      <p:sp>
        <p:nvSpPr>
          <p:cNvPr id="32" name="Rounded Rectangle 31"/>
          <p:cNvSpPr/>
          <p:nvPr/>
        </p:nvSpPr>
        <p:spPr>
          <a:xfrm>
            <a:off x="2048256" y="5871718"/>
            <a:ext cx="8010144" cy="274320"/>
          </a:xfrm>
          <a:prstGeom prst="roundRect">
            <a:avLst>
              <a:gd name="adj" fmla="val 14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157984" y="5871718"/>
            <a:ext cx="2600553" cy="274320"/>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1">
                <a:solidFill>
                  <a:srgbClr val="E8833A"/>
                </a:solidFill>
                <a:latin typeface="Calibri"/>
                <a:ea typeface="Yu Gothic"/>
                <a:cs typeface="Yu Gothic"/>
              </a:rPr>
              <a:t>ETTh2  LightGBM</a:t>
            </a:r>
          </a:p>
        </p:txBody>
      </p:sp>
      <p:sp>
        <p:nvSpPr>
          <p:cNvPr id="34" name="TextBox 33"/>
          <p:cNvSpPr txBox="1"/>
          <p:nvPr/>
        </p:nvSpPr>
        <p:spPr>
          <a:xfrm>
            <a:off x="4831689" y="587171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E8833A"/>
                </a:solidFill>
                <a:latin typeface="Calibri"/>
                <a:ea typeface="Yu Gothic"/>
                <a:cs typeface="Yu Gothic"/>
              </a:rPr>
              <a:t>0.38</a:t>
            </a:r>
          </a:p>
        </p:txBody>
      </p:sp>
      <p:sp>
        <p:nvSpPr>
          <p:cNvPr id="35" name="TextBox 34"/>
          <p:cNvSpPr txBox="1"/>
          <p:nvPr/>
        </p:nvSpPr>
        <p:spPr>
          <a:xfrm>
            <a:off x="5869715" y="587171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E8833A"/>
                </a:solidFill>
                <a:latin typeface="Calibri"/>
                <a:ea typeface="Yu Gothic"/>
                <a:cs typeface="Yu Gothic"/>
              </a:rPr>
              <a:t>1.03</a:t>
            </a:r>
          </a:p>
        </p:txBody>
      </p:sp>
      <p:sp>
        <p:nvSpPr>
          <p:cNvPr id="36" name="TextBox 35"/>
          <p:cNvSpPr txBox="1"/>
          <p:nvPr/>
        </p:nvSpPr>
        <p:spPr>
          <a:xfrm>
            <a:off x="6907741" y="587171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E8833A"/>
                </a:solidFill>
                <a:latin typeface="Calibri"/>
                <a:ea typeface="Yu Gothic"/>
                <a:cs typeface="Yu Gothic"/>
              </a:rPr>
              <a:t>1.82</a:t>
            </a:r>
          </a:p>
        </p:txBody>
      </p:sp>
      <p:sp>
        <p:nvSpPr>
          <p:cNvPr id="37" name="TextBox 36"/>
          <p:cNvSpPr txBox="1"/>
          <p:nvPr/>
        </p:nvSpPr>
        <p:spPr>
          <a:xfrm>
            <a:off x="7945767" y="587171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E8833A"/>
                </a:solidFill>
                <a:latin typeface="Calibri"/>
                <a:ea typeface="Yu Gothic"/>
                <a:cs typeface="Yu Gothic"/>
              </a:rPr>
              <a:t>2.65</a:t>
            </a:r>
          </a:p>
        </p:txBody>
      </p:sp>
      <p:sp>
        <p:nvSpPr>
          <p:cNvPr id="38" name="TextBox 37"/>
          <p:cNvSpPr txBox="1"/>
          <p:nvPr/>
        </p:nvSpPr>
        <p:spPr>
          <a:xfrm>
            <a:off x="8983793" y="5871718"/>
            <a:ext cx="964874" cy="274320"/>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E8833A"/>
                </a:solidFill>
                <a:latin typeface="Calibri"/>
                <a:ea typeface="Yu Gothic"/>
                <a:cs typeface="Yu Gothic"/>
              </a:rPr>
              <a:t>3.06</a:t>
            </a:r>
          </a:p>
        </p:txBody>
      </p:sp>
      <p:sp>
        <p:nvSpPr>
          <p:cNvPr id="39" name="TextBox 38"/>
          <p:cNvSpPr txBox="1"/>
          <p:nvPr/>
        </p:nvSpPr>
        <p:spPr>
          <a:xfrm>
            <a:off x="566928" y="6292342"/>
            <a:ext cx="11057839" cy="166687"/>
          </a:xfrm>
          <a:prstGeom prst="rect">
            <a:avLst/>
          </a:prstGeom>
          <a:noFill/>
        </p:spPr>
        <p:txBody>
          <a:bodyPr wrap="square" anchor="t" lIns="0" rIns="0" tIns="0" bIns="0">
            <a:spAutoFit/>
          </a:bodyPr>
          <a:lstStyle/>
          <a:p>
            <a:pPr algn="l" eaLnBrk="1" hangingPunct="1">
              <a:lnSpc>
                <a:spcPct val="125000"/>
              </a:lnSpc>
              <a:spcBef>
                <a:spcPts val="0"/>
              </a:spcBef>
              <a:spcAft>
                <a:spcPts val="0"/>
              </a:spcAft>
            </a:pPr>
            <a:r>
              <a:rPr sz="1050" b="0">
                <a:solidFill>
                  <a:srgbClr val="52606D"/>
                </a:solidFill>
                <a:latin typeface="Calibri"/>
                <a:ea typeface="Yu Gothic"/>
                <a:cs typeface="Yu Gothic"/>
              </a:rPr>
              <a:t>24 時間先で現状相当の誤差が 12 時間先より小さいのは、日内周期により 24 時間前の値が再び近づくため。</a:t>
            </a:r>
          </a:p>
        </p:txBody>
      </p:sp>
      <p:sp>
        <p:nvSpPr>
          <p:cNvPr id="40" name="TextBox 39"/>
          <p:cNvSpPr txBox="1"/>
          <p:nvPr/>
        </p:nvSpPr>
        <p:spPr>
          <a:xfrm>
            <a:off x="11076127" y="6473952"/>
            <a:ext cx="548640" cy="219456"/>
          </a:xfrm>
          <a:prstGeom prst="rect">
            <a:avLst/>
          </a:prstGeom>
          <a:noFill/>
        </p:spPr>
        <p:txBody>
          <a:bodyPr wrap="square" anchor="t" lIns="0" rIns="0" tIns="0" bIns="0">
            <a:spAutoFit/>
          </a:bodyPr>
          <a:lstStyle/>
          <a:p>
            <a:pPr algn="r" eaLnBrk="1" hangingPunct="1">
              <a:lnSpc>
                <a:spcPct val="130000"/>
              </a:lnSpc>
              <a:spcBef>
                <a:spcPts val="0"/>
              </a:spcBef>
              <a:spcAft>
                <a:spcPts val="0"/>
              </a:spcAft>
            </a:pPr>
            <a:r>
              <a:rPr sz="1000" b="0">
                <a:solidFill>
                  <a:srgbClr val="9AA5B1"/>
                </a:solidFill>
                <a:latin typeface="Calibri"/>
                <a:ea typeface="Yu Gothic"/>
                <a:cs typeface="Yu Gothic"/>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602996" cy="274320"/>
          </a:xfrm>
          <a:prstGeom prst="roundRect">
            <a:avLst>
              <a:gd name="adj" fmla="val 35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150" b="1">
                <a:solidFill>
                  <a:srgbClr val="FFFFFF"/>
                </a:solidFill>
                <a:latin typeface="Calibri"/>
                <a:ea typeface="Yu Gothic"/>
                <a:cs typeface="Yu Gothic"/>
              </a:rPr>
              <a:t>結果</a:t>
            </a:r>
          </a:p>
        </p:txBody>
      </p:sp>
      <p:sp>
        <p:nvSpPr>
          <p:cNvPr id="3" name="TextBox 2"/>
          <p:cNvSpPr txBox="1"/>
          <p:nvPr/>
        </p:nvSpPr>
        <p:spPr>
          <a:xfrm>
            <a:off x="566928" y="786384"/>
            <a:ext cx="11057839" cy="33528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2200" b="1">
                <a:solidFill>
                  <a:srgbClr val="1F2933"/>
                </a:solidFill>
                <a:latin typeface="Calibri"/>
                <a:ea typeface="Yu Gothic"/>
                <a:cs typeface="Yu Gothic"/>
              </a:rPr>
              <a:t>6 時間前の高温警告は検知率 78% / 適合率 85%。急上昇は現状では検知できない</a:t>
            </a:r>
          </a:p>
        </p:txBody>
      </p:sp>
      <p:sp>
        <p:nvSpPr>
          <p:cNvPr id="4" name="TextBox 3"/>
          <p:cNvSpPr txBox="1"/>
          <p:nvPr/>
        </p:nvSpPr>
        <p:spPr>
          <a:xfrm>
            <a:off x="566928" y="1249680"/>
            <a:ext cx="11057839" cy="214630"/>
          </a:xfrm>
          <a:prstGeom prst="rect">
            <a:avLst/>
          </a:prstGeom>
          <a:noFill/>
        </p:spPr>
        <p:txBody>
          <a:bodyPr wrap="square" anchor="t" lIns="0" rIns="0" tIns="0" bIns="0">
            <a:spAutoFit/>
          </a:bodyPr>
          <a:lstStyle/>
          <a:p>
            <a:pPr algn="l" eaLnBrk="1" hangingPunct="1">
              <a:lnSpc>
                <a:spcPct val="130000"/>
              </a:lnSpc>
              <a:spcBef>
                <a:spcPts val="0"/>
              </a:spcBef>
              <a:spcAft>
                <a:spcPts val="0"/>
              </a:spcAft>
            </a:pPr>
            <a:r>
              <a:rPr sz="1300" b="0">
                <a:solidFill>
                  <a:srgbClr val="52606D"/>
                </a:solidFill>
                <a:latin typeface="Calibri"/>
                <a:ea typeface="Yu Gothic"/>
                <a:cs typeface="Yu Gothic"/>
              </a:rPr>
              <a:t>「現状相当」は現在温度がそのまま続くと仮定した判断 — 上昇の予兆は原理的に捉えられない</a:t>
            </a:r>
          </a:p>
        </p:txBody>
      </p:sp>
      <p:pic>
        <p:nvPicPr>
          <p:cNvPr id="5" name="Picture 4" descr="slide_event_recall.png"/>
          <p:cNvPicPr>
            <a:picLocks noChangeAspect="1"/>
          </p:cNvPicPr>
          <p:nvPr/>
        </p:nvPicPr>
        <p:blipFill>
          <a:blip r:embed="rId2"/>
          <a:stretch>
            <a:fillRect/>
          </a:stretch>
        </p:blipFill>
        <p:spPr>
          <a:xfrm>
            <a:off x="2859884" y="1756918"/>
            <a:ext cx="6471926" cy="2697480"/>
          </a:xfrm>
          <a:prstGeom prst="rect">
            <a:avLst/>
          </a:prstGeom>
        </p:spPr>
      </p:pic>
      <p:sp>
        <p:nvSpPr>
          <p:cNvPr id="6" name="Rounded Rectangle 5"/>
          <p:cNvSpPr/>
          <p:nvPr/>
        </p:nvSpPr>
        <p:spPr>
          <a:xfrm>
            <a:off x="566928" y="4692142"/>
            <a:ext cx="5382615" cy="1251077"/>
          </a:xfrm>
          <a:prstGeom prst="roundRect">
            <a:avLst>
              <a:gd name="adj" fmla="val 6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86384" y="4911598"/>
            <a:ext cx="4943703" cy="21336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1400" b="1">
                <a:solidFill>
                  <a:srgbClr val="E8833A"/>
                </a:solidFill>
                <a:latin typeface="Calibri"/>
                <a:ea typeface="Yu Gothic"/>
                <a:cs typeface="Yu Gothic"/>
              </a:rPr>
              <a:t>45°C 超過の事前警告(6 時間前)</a:t>
            </a:r>
          </a:p>
        </p:txBody>
      </p:sp>
      <p:sp>
        <p:nvSpPr>
          <p:cNvPr id="8" name="TextBox 7"/>
          <p:cNvSpPr txBox="1"/>
          <p:nvPr/>
        </p:nvSpPr>
        <p:spPr>
          <a:xfrm>
            <a:off x="786384" y="5216398"/>
            <a:ext cx="4943703" cy="492125"/>
          </a:xfrm>
          <a:prstGeom prst="rect">
            <a:avLst/>
          </a:prstGeom>
          <a:noFill/>
        </p:spPr>
        <p:txBody>
          <a:bodyPr wrap="square" anchor="t" lIns="0" rIns="0" tIns="0" bIns="0">
            <a:spAutoFit/>
          </a:bodyPr>
          <a:lstStyle/>
          <a:p>
            <a:pPr algn="l" eaLnBrk="1" hangingPunct="1">
              <a:lnSpc>
                <a:spcPct val="135000"/>
              </a:lnSpc>
              <a:spcBef>
                <a:spcPts val="0"/>
              </a:spcBef>
              <a:spcAft>
                <a:spcPts val="500"/>
              </a:spcAft>
            </a:pPr>
            <a:r>
              <a:rPr sz="1250" b="0">
                <a:solidFill>
                  <a:srgbClr val="52606D"/>
                </a:solidFill>
                <a:latin typeface="Calibri"/>
                <a:ea typeface="Yu Gothic"/>
                <a:cs typeface="Yu Gothic"/>
              </a:rPr>
              <a:t>検知率 42% → 78%、適合率 43% → 85%。誤報は 282 → 67 件に減少。</a:t>
            </a:r>
          </a:p>
        </p:txBody>
      </p:sp>
      <p:sp>
        <p:nvSpPr>
          <p:cNvPr id="9" name="Rounded Rectangle 8"/>
          <p:cNvSpPr/>
          <p:nvPr/>
        </p:nvSpPr>
        <p:spPr>
          <a:xfrm>
            <a:off x="6242151" y="4692142"/>
            <a:ext cx="5382615" cy="1251077"/>
          </a:xfrm>
          <a:prstGeom prst="roundRect">
            <a:avLst>
              <a:gd name="adj" fmla="val 6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61607" y="4911598"/>
            <a:ext cx="4943703" cy="21336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1400" b="1">
                <a:solidFill>
                  <a:srgbClr val="E8833A"/>
                </a:solidFill>
                <a:latin typeface="Calibri"/>
                <a:ea typeface="Yu Gothic"/>
                <a:cs typeface="Yu Gothic"/>
              </a:rPr>
              <a:t>+5°C 急上昇の事前警告(6 時間前)</a:t>
            </a:r>
          </a:p>
        </p:txBody>
      </p:sp>
      <p:sp>
        <p:nvSpPr>
          <p:cNvPr id="11" name="TextBox 10"/>
          <p:cNvSpPr txBox="1"/>
          <p:nvPr/>
        </p:nvSpPr>
        <p:spPr>
          <a:xfrm>
            <a:off x="6461607" y="5216398"/>
            <a:ext cx="4943703" cy="492125"/>
          </a:xfrm>
          <a:prstGeom prst="rect">
            <a:avLst/>
          </a:prstGeom>
          <a:noFill/>
        </p:spPr>
        <p:txBody>
          <a:bodyPr wrap="square" anchor="t" lIns="0" rIns="0" tIns="0" bIns="0">
            <a:spAutoFit/>
          </a:bodyPr>
          <a:lstStyle/>
          <a:p>
            <a:pPr algn="l" eaLnBrk="1" hangingPunct="1">
              <a:lnSpc>
                <a:spcPct val="135000"/>
              </a:lnSpc>
              <a:spcBef>
                <a:spcPts val="0"/>
              </a:spcBef>
              <a:spcAft>
                <a:spcPts val="500"/>
              </a:spcAft>
            </a:pPr>
            <a:r>
              <a:rPr sz="1250" b="0">
                <a:solidFill>
                  <a:srgbClr val="52606D"/>
                </a:solidFill>
                <a:latin typeface="Calibri"/>
                <a:ea typeface="Yu Gothic"/>
                <a:cs typeface="Yu Gothic"/>
              </a:rPr>
              <a:t>現状相当では検知率 0%(構造上不可能)。本手法では 1,519 件中 79% を事前検知、適合率 75%。</a:t>
            </a:r>
          </a:p>
        </p:txBody>
      </p:sp>
      <p:sp>
        <p:nvSpPr>
          <p:cNvPr id="12" name="TextBox 11"/>
          <p:cNvSpPr txBox="1"/>
          <p:nvPr/>
        </p:nvSpPr>
        <p:spPr>
          <a:xfrm>
            <a:off x="566928" y="6089523"/>
            <a:ext cx="11057839" cy="166687"/>
          </a:xfrm>
          <a:prstGeom prst="rect">
            <a:avLst/>
          </a:prstGeom>
          <a:noFill/>
        </p:spPr>
        <p:txBody>
          <a:bodyPr wrap="square" anchor="t" lIns="0" rIns="0" tIns="0" bIns="0">
            <a:spAutoFit/>
          </a:bodyPr>
          <a:lstStyle/>
          <a:p>
            <a:pPr algn="l" eaLnBrk="1" hangingPunct="1">
              <a:lnSpc>
                <a:spcPct val="125000"/>
              </a:lnSpc>
              <a:spcBef>
                <a:spcPts val="0"/>
              </a:spcBef>
              <a:spcAft>
                <a:spcPts val="0"/>
              </a:spcAft>
            </a:pPr>
            <a:r>
              <a:rPr sz="1050" b="0">
                <a:solidFill>
                  <a:srgbClr val="52606D"/>
                </a:solidFill>
                <a:latin typeface="Calibri"/>
                <a:ea typeface="Yu Gothic"/>
                <a:cs typeface="Yu Gothic"/>
              </a:rPr>
              <a:t>閾値 45°C・上昇幅 5°C は評価期間の上位 5〜7% に相当する仮置きの値。実運用では設備の許容温度と保全規程に基づく再定義が必要。</a:t>
            </a:r>
          </a:p>
        </p:txBody>
      </p:sp>
      <p:sp>
        <p:nvSpPr>
          <p:cNvPr id="13" name="TextBox 12"/>
          <p:cNvSpPr txBox="1"/>
          <p:nvPr/>
        </p:nvSpPr>
        <p:spPr>
          <a:xfrm>
            <a:off x="11076127" y="6473952"/>
            <a:ext cx="548640" cy="219456"/>
          </a:xfrm>
          <a:prstGeom prst="rect">
            <a:avLst/>
          </a:prstGeom>
          <a:noFill/>
        </p:spPr>
        <p:txBody>
          <a:bodyPr wrap="square" anchor="t" lIns="0" rIns="0" tIns="0" bIns="0">
            <a:spAutoFit/>
          </a:bodyPr>
          <a:lstStyle/>
          <a:p>
            <a:pPr algn="r" eaLnBrk="1" hangingPunct="1">
              <a:lnSpc>
                <a:spcPct val="130000"/>
              </a:lnSpc>
              <a:spcBef>
                <a:spcPts val="0"/>
              </a:spcBef>
              <a:spcAft>
                <a:spcPts val="0"/>
              </a:spcAft>
            </a:pPr>
            <a:r>
              <a:rPr sz="1000" b="0">
                <a:solidFill>
                  <a:srgbClr val="9AA5B1"/>
                </a:solidFill>
                <a:latin typeface="Calibri"/>
                <a:ea typeface="Yu Gothic"/>
                <a:cs typeface="Yu Gothic"/>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602996" cy="274320"/>
          </a:xfrm>
          <a:prstGeom prst="roundRect">
            <a:avLst>
              <a:gd name="adj" fmla="val 35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150" b="1">
                <a:solidFill>
                  <a:srgbClr val="FFFFFF"/>
                </a:solidFill>
                <a:latin typeface="Calibri"/>
                <a:ea typeface="Yu Gothic"/>
                <a:cs typeface="Yu Gothic"/>
              </a:rPr>
              <a:t>結果</a:t>
            </a:r>
          </a:p>
        </p:txBody>
      </p:sp>
      <p:sp>
        <p:nvSpPr>
          <p:cNvPr id="3" name="TextBox 2"/>
          <p:cNvSpPr txBox="1"/>
          <p:nvPr/>
        </p:nvSpPr>
        <p:spPr>
          <a:xfrm>
            <a:off x="566928" y="786384"/>
            <a:ext cx="11057839" cy="33528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2200" b="1">
                <a:solidFill>
                  <a:srgbClr val="1F2933"/>
                </a:solidFill>
                <a:latin typeface="Calibri"/>
                <a:ea typeface="Yu Gothic"/>
                <a:cs typeface="Yu Gothic"/>
              </a:rPr>
              <a:t>現状相当は昇温に 6 時間遅れて追随するが、本手法はピークの時刻と高さを捉える</a:t>
            </a:r>
          </a:p>
        </p:txBody>
      </p:sp>
      <p:pic>
        <p:nvPicPr>
          <p:cNvPr id="4" name="Picture 3" descr="slide_example_week.png"/>
          <p:cNvPicPr>
            <a:picLocks noChangeAspect="1"/>
          </p:cNvPicPr>
          <p:nvPr/>
        </p:nvPicPr>
        <p:blipFill>
          <a:blip r:embed="rId2"/>
          <a:stretch>
            <a:fillRect/>
          </a:stretch>
        </p:blipFill>
        <p:spPr>
          <a:xfrm>
            <a:off x="1181601" y="1679448"/>
            <a:ext cx="9828493" cy="3017520"/>
          </a:xfrm>
          <a:prstGeom prst="rect">
            <a:avLst/>
          </a:prstGeom>
        </p:spPr>
      </p:pic>
      <p:sp>
        <p:nvSpPr>
          <p:cNvPr id="5" name="TextBox 4"/>
          <p:cNvSpPr txBox="1"/>
          <p:nvPr/>
        </p:nvSpPr>
        <p:spPr>
          <a:xfrm>
            <a:off x="566928" y="5062728"/>
            <a:ext cx="11057839" cy="572770"/>
          </a:xfrm>
          <a:prstGeom prst="rect">
            <a:avLst/>
          </a:prstGeom>
          <a:noFill/>
        </p:spPr>
        <p:txBody>
          <a:bodyPr wrap="square" anchor="t" lIns="0" rIns="0" tIns="0" bIns="0">
            <a:spAutoFit/>
          </a:bodyPr>
          <a:lstStyle/>
          <a:p>
            <a:pPr algn="l" eaLnBrk="1" hangingPunct="1">
              <a:lnSpc>
                <a:spcPct val="130000"/>
              </a:lnSpc>
              <a:spcBef>
                <a:spcPts val="0"/>
              </a:spcBef>
              <a:spcAft>
                <a:spcPts val="500"/>
              </a:spcAft>
            </a:pPr>
            <a:r>
              <a:rPr sz="1350" b="0">
                <a:solidFill>
                  <a:srgbClr val="1F2933"/>
                </a:solidFill>
                <a:latin typeface="Calibri"/>
                <a:ea typeface="Yu Gothic"/>
                <a:cs typeface="Yu Gothic"/>
              </a:rPr>
              <a:t>ETTh2、2017 年 7 月の 1 週間。毎時、その時点までの観測のみを使って 6 時間先を予測した結果を並べたもの。</a:t>
            </a:r>
          </a:p>
          <a:p>
            <a:pPr algn="l" eaLnBrk="1" hangingPunct="1">
              <a:lnSpc>
                <a:spcPct val="130000"/>
              </a:lnSpc>
              <a:spcBef>
                <a:spcPts val="0"/>
              </a:spcBef>
              <a:spcAft>
                <a:spcPts val="500"/>
              </a:spcAft>
            </a:pPr>
            <a:r>
              <a:rPr sz="1350" b="0">
                <a:solidFill>
                  <a:srgbClr val="1F2933"/>
                </a:solidFill>
                <a:latin typeface="Calibri"/>
                <a:ea typeface="Yu Gothic"/>
                <a:cs typeface="Yu Gothic"/>
              </a:rPr>
              <a:t>現状相当(灰)は波形が 6 時間ずれ、45°C を超えてから警報が出る。本手法(橙)は超過前に警告できる。</a:t>
            </a:r>
          </a:p>
        </p:txBody>
      </p:sp>
      <p:sp>
        <p:nvSpPr>
          <p:cNvPr id="6" name="TextBox 5"/>
          <p:cNvSpPr txBox="1"/>
          <p:nvPr/>
        </p:nvSpPr>
        <p:spPr>
          <a:xfrm>
            <a:off x="11076127" y="6473952"/>
            <a:ext cx="548640" cy="219456"/>
          </a:xfrm>
          <a:prstGeom prst="rect">
            <a:avLst/>
          </a:prstGeom>
          <a:noFill/>
        </p:spPr>
        <p:txBody>
          <a:bodyPr wrap="square" anchor="t" lIns="0" rIns="0" tIns="0" bIns="0">
            <a:spAutoFit/>
          </a:bodyPr>
          <a:lstStyle/>
          <a:p>
            <a:pPr algn="r" eaLnBrk="1" hangingPunct="1">
              <a:lnSpc>
                <a:spcPct val="130000"/>
              </a:lnSpc>
              <a:spcBef>
                <a:spcPts val="0"/>
              </a:spcBef>
              <a:spcAft>
                <a:spcPts val="0"/>
              </a:spcAft>
            </a:pPr>
            <a:r>
              <a:rPr sz="1000" b="0">
                <a:solidFill>
                  <a:srgbClr val="9AA5B1"/>
                </a:solidFill>
                <a:latin typeface="Calibri"/>
                <a:ea typeface="Yu Gothic"/>
                <a:cs typeface="Yu Gothic"/>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602996" cy="274320"/>
          </a:xfrm>
          <a:prstGeom prst="roundRect">
            <a:avLst>
              <a:gd name="adj" fmla="val 35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150" b="1">
                <a:solidFill>
                  <a:srgbClr val="FFFFFF"/>
                </a:solidFill>
                <a:latin typeface="Calibri"/>
                <a:ea typeface="Yu Gothic"/>
                <a:cs typeface="Yu Gothic"/>
              </a:rPr>
              <a:t>結果</a:t>
            </a:r>
          </a:p>
        </p:txBody>
      </p:sp>
      <p:sp>
        <p:nvSpPr>
          <p:cNvPr id="3" name="TextBox 2"/>
          <p:cNvSpPr txBox="1"/>
          <p:nvPr/>
        </p:nvSpPr>
        <p:spPr>
          <a:xfrm>
            <a:off x="566928" y="786384"/>
            <a:ext cx="11057839" cy="33528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2200" b="1">
                <a:solidFill>
                  <a:srgbClr val="1F2933"/>
                </a:solidFill>
                <a:latin typeface="Calibri"/>
                <a:ea typeface="Yu Gothic"/>
                <a:cs typeface="Yu Gothic"/>
              </a:rPr>
              <a:t>予測を支えているのは温度自身の履歴と日内周期であり、負荷変数の寄与は限定的</a:t>
            </a:r>
          </a:p>
        </p:txBody>
      </p:sp>
      <p:sp>
        <p:nvSpPr>
          <p:cNvPr id="4" name="TextBox 3"/>
          <p:cNvSpPr txBox="1"/>
          <p:nvPr/>
        </p:nvSpPr>
        <p:spPr>
          <a:xfrm>
            <a:off x="566928" y="1249680"/>
            <a:ext cx="11057839" cy="214630"/>
          </a:xfrm>
          <a:prstGeom prst="rect">
            <a:avLst/>
          </a:prstGeom>
          <a:noFill/>
        </p:spPr>
        <p:txBody>
          <a:bodyPr wrap="square" anchor="t" lIns="0" rIns="0" tIns="0" bIns="0">
            <a:spAutoFit/>
          </a:bodyPr>
          <a:lstStyle/>
          <a:p>
            <a:pPr algn="l" eaLnBrk="1" hangingPunct="1">
              <a:lnSpc>
                <a:spcPct val="130000"/>
              </a:lnSpc>
              <a:spcBef>
                <a:spcPts val="0"/>
              </a:spcBef>
              <a:spcAft>
                <a:spcPts val="0"/>
              </a:spcAft>
            </a:pPr>
            <a:r>
              <a:rPr sz="1300" b="0">
                <a:solidFill>
                  <a:srgbClr val="52606D"/>
                </a:solidFill>
                <a:latin typeface="Calibri"/>
                <a:ea typeface="Yu Gothic"/>
                <a:cs typeface="Yu Gothic"/>
              </a:rPr>
              <a:t>負荷ラグを除いた条件、未来の負荷を与えた条件のいずれも精度はほぼ変わらなかった</a:t>
            </a:r>
          </a:p>
        </p:txBody>
      </p:sp>
      <p:pic>
        <p:nvPicPr>
          <p:cNvPr id="5" name="Picture 4" descr="slide_importance.png"/>
          <p:cNvPicPr>
            <a:picLocks noChangeAspect="1"/>
          </p:cNvPicPr>
          <p:nvPr/>
        </p:nvPicPr>
        <p:blipFill>
          <a:blip r:embed="rId2"/>
          <a:stretch>
            <a:fillRect/>
          </a:stretch>
        </p:blipFill>
        <p:spPr>
          <a:xfrm>
            <a:off x="2790509" y="1756918"/>
            <a:ext cx="6610677" cy="2651760"/>
          </a:xfrm>
          <a:prstGeom prst="rect">
            <a:avLst/>
          </a:prstGeom>
        </p:spPr>
      </p:pic>
      <p:sp>
        <p:nvSpPr>
          <p:cNvPr id="6" name="TextBox 5"/>
          <p:cNvSpPr txBox="1"/>
          <p:nvPr/>
        </p:nvSpPr>
        <p:spPr>
          <a:xfrm>
            <a:off x="1426464" y="4682998"/>
            <a:ext cx="2974543" cy="292608"/>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1">
                <a:solidFill>
                  <a:srgbClr val="52606D"/>
                </a:solidFill>
                <a:latin typeface="Calibri"/>
                <a:ea typeface="Yu Gothic"/>
                <a:cs typeface="Yu Gothic"/>
              </a:rPr>
              <a:t>6 時間先 MAE [°C]</a:t>
            </a:r>
          </a:p>
        </p:txBody>
      </p:sp>
      <p:sp>
        <p:nvSpPr>
          <p:cNvPr id="7" name="TextBox 6"/>
          <p:cNvSpPr txBox="1"/>
          <p:nvPr/>
        </p:nvSpPr>
        <p:spPr>
          <a:xfrm>
            <a:off x="4474159" y="4682998"/>
            <a:ext cx="1127455" cy="292608"/>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1">
                <a:solidFill>
                  <a:srgbClr val="52606D"/>
                </a:solidFill>
                <a:latin typeface="Calibri"/>
                <a:ea typeface="Yu Gothic"/>
                <a:cs typeface="Yu Gothic"/>
              </a:rPr>
              <a:t>ETTh1</a:t>
            </a:r>
          </a:p>
        </p:txBody>
      </p:sp>
      <p:sp>
        <p:nvSpPr>
          <p:cNvPr id="8" name="TextBox 7"/>
          <p:cNvSpPr txBox="1"/>
          <p:nvPr/>
        </p:nvSpPr>
        <p:spPr>
          <a:xfrm>
            <a:off x="5674766" y="4682998"/>
            <a:ext cx="1127455" cy="292608"/>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1">
                <a:solidFill>
                  <a:srgbClr val="52606D"/>
                </a:solidFill>
                <a:latin typeface="Calibri"/>
                <a:ea typeface="Yu Gothic"/>
                <a:cs typeface="Yu Gothic"/>
              </a:rPr>
              <a:t>ETTh2</a:t>
            </a:r>
          </a:p>
        </p:txBody>
      </p:sp>
      <p:sp>
        <p:nvSpPr>
          <p:cNvPr id="9" name="TextBox 8"/>
          <p:cNvSpPr txBox="1"/>
          <p:nvPr/>
        </p:nvSpPr>
        <p:spPr>
          <a:xfrm>
            <a:off x="6875373" y="4682998"/>
            <a:ext cx="3713378" cy="292608"/>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1">
                <a:solidFill>
                  <a:srgbClr val="52606D"/>
                </a:solidFill>
                <a:latin typeface="Calibri"/>
                <a:ea typeface="Yu Gothic"/>
                <a:cs typeface="Yu Gothic"/>
              </a:rPr>
              <a:t>解釈</a:t>
            </a:r>
          </a:p>
        </p:txBody>
      </p:sp>
      <p:sp>
        <p:nvSpPr>
          <p:cNvPr id="10" name="Rectangle 9"/>
          <p:cNvSpPr/>
          <p:nvPr/>
        </p:nvSpPr>
        <p:spPr>
          <a:xfrm>
            <a:off x="1389888" y="4948174"/>
            <a:ext cx="9235440" cy="9525"/>
          </a:xfrm>
          <a:prstGeom prst="rect">
            <a:avLst/>
          </a:prstGeom>
          <a:solidFill>
            <a:srgbClr val="D7DD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426464" y="4975606"/>
            <a:ext cx="2974543" cy="292608"/>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温度履歴のみ(負荷なし)</a:t>
            </a:r>
          </a:p>
        </p:txBody>
      </p:sp>
      <p:sp>
        <p:nvSpPr>
          <p:cNvPr id="12" name="TextBox 11"/>
          <p:cNvSpPr txBox="1"/>
          <p:nvPr/>
        </p:nvSpPr>
        <p:spPr>
          <a:xfrm>
            <a:off x="4474159" y="4975606"/>
            <a:ext cx="1127455" cy="292608"/>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1F2933"/>
                </a:solidFill>
                <a:latin typeface="Calibri"/>
                <a:ea typeface="Yu Gothic"/>
                <a:cs typeface="Yu Gothic"/>
              </a:rPr>
              <a:t>1.056</a:t>
            </a:r>
          </a:p>
        </p:txBody>
      </p:sp>
      <p:sp>
        <p:nvSpPr>
          <p:cNvPr id="13" name="TextBox 12"/>
          <p:cNvSpPr txBox="1"/>
          <p:nvPr/>
        </p:nvSpPr>
        <p:spPr>
          <a:xfrm>
            <a:off x="5674766" y="4975606"/>
            <a:ext cx="1127455" cy="292608"/>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1F2933"/>
                </a:solidFill>
                <a:latin typeface="Calibri"/>
                <a:ea typeface="Yu Gothic"/>
                <a:cs typeface="Yu Gothic"/>
              </a:rPr>
              <a:t>1.772</a:t>
            </a:r>
          </a:p>
        </p:txBody>
      </p:sp>
      <p:sp>
        <p:nvSpPr>
          <p:cNvPr id="14" name="TextBox 13"/>
          <p:cNvSpPr txBox="1"/>
          <p:nvPr/>
        </p:nvSpPr>
        <p:spPr>
          <a:xfrm>
            <a:off x="6875373" y="4975606"/>
            <a:ext cx="3713378" cy="292608"/>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負荷なしでもほぼ同等</a:t>
            </a:r>
          </a:p>
        </p:txBody>
      </p:sp>
      <p:sp>
        <p:nvSpPr>
          <p:cNvPr id="15" name="TextBox 14"/>
          <p:cNvSpPr txBox="1"/>
          <p:nvPr/>
        </p:nvSpPr>
        <p:spPr>
          <a:xfrm>
            <a:off x="1426464" y="5268214"/>
            <a:ext cx="2974543" cy="292608"/>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 負荷の過去値(採用)</a:t>
            </a:r>
          </a:p>
        </p:txBody>
      </p:sp>
      <p:sp>
        <p:nvSpPr>
          <p:cNvPr id="16" name="TextBox 15"/>
          <p:cNvSpPr txBox="1"/>
          <p:nvPr/>
        </p:nvSpPr>
        <p:spPr>
          <a:xfrm>
            <a:off x="4474159" y="5268214"/>
            <a:ext cx="1127455" cy="292608"/>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1F2933"/>
                </a:solidFill>
                <a:latin typeface="Calibri"/>
                <a:ea typeface="Yu Gothic"/>
                <a:cs typeface="Yu Gothic"/>
              </a:rPr>
              <a:t>1.041</a:t>
            </a:r>
          </a:p>
        </p:txBody>
      </p:sp>
      <p:sp>
        <p:nvSpPr>
          <p:cNvPr id="17" name="TextBox 16"/>
          <p:cNvSpPr txBox="1"/>
          <p:nvPr/>
        </p:nvSpPr>
        <p:spPr>
          <a:xfrm>
            <a:off x="5674766" y="5268214"/>
            <a:ext cx="1127455" cy="292608"/>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1F2933"/>
                </a:solidFill>
                <a:latin typeface="Calibri"/>
                <a:ea typeface="Yu Gothic"/>
                <a:cs typeface="Yu Gothic"/>
              </a:rPr>
              <a:t>1.822</a:t>
            </a:r>
          </a:p>
        </p:txBody>
      </p:sp>
      <p:sp>
        <p:nvSpPr>
          <p:cNvPr id="18" name="TextBox 17"/>
          <p:cNvSpPr txBox="1"/>
          <p:nvPr/>
        </p:nvSpPr>
        <p:spPr>
          <a:xfrm>
            <a:off x="6875373" y="5268214"/>
            <a:ext cx="3713378" cy="292608"/>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改善は誤差の範囲</a:t>
            </a:r>
          </a:p>
        </p:txBody>
      </p:sp>
      <p:sp>
        <p:nvSpPr>
          <p:cNvPr id="19" name="TextBox 18"/>
          <p:cNvSpPr txBox="1"/>
          <p:nvPr/>
        </p:nvSpPr>
        <p:spPr>
          <a:xfrm>
            <a:off x="1426464" y="5560822"/>
            <a:ext cx="2974543" cy="292608"/>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 未来の負荷(参考・運用不可)</a:t>
            </a:r>
          </a:p>
        </p:txBody>
      </p:sp>
      <p:sp>
        <p:nvSpPr>
          <p:cNvPr id="20" name="TextBox 19"/>
          <p:cNvSpPr txBox="1"/>
          <p:nvPr/>
        </p:nvSpPr>
        <p:spPr>
          <a:xfrm>
            <a:off x="4474159" y="5560822"/>
            <a:ext cx="1127455" cy="292608"/>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1F2933"/>
                </a:solidFill>
                <a:latin typeface="Calibri"/>
                <a:ea typeface="Yu Gothic"/>
                <a:cs typeface="Yu Gothic"/>
              </a:rPr>
              <a:t>1.016</a:t>
            </a:r>
          </a:p>
        </p:txBody>
      </p:sp>
      <p:sp>
        <p:nvSpPr>
          <p:cNvPr id="21" name="TextBox 20"/>
          <p:cNvSpPr txBox="1"/>
          <p:nvPr/>
        </p:nvSpPr>
        <p:spPr>
          <a:xfrm>
            <a:off x="5674766" y="5560822"/>
            <a:ext cx="1127455" cy="292608"/>
          </a:xfrm>
          <a:prstGeom prst="rect">
            <a:avLst/>
          </a:prstGeom>
          <a:noFill/>
        </p:spPr>
        <p:txBody>
          <a:bodyPr wrap="square" anchor="ctr" lIns="0" rIns="0" tIns="0" bIns="0">
            <a:spAutoFit/>
          </a:bodyPr>
          <a:lstStyle/>
          <a:p>
            <a:pPr algn="ctr" eaLnBrk="1" hangingPunct="1">
              <a:lnSpc>
                <a:spcPct val="120000"/>
              </a:lnSpc>
              <a:spcBef>
                <a:spcPts val="0"/>
              </a:spcBef>
              <a:spcAft>
                <a:spcPts val="0"/>
              </a:spcAft>
            </a:pPr>
            <a:r>
              <a:rPr sz="1250" b="0">
                <a:solidFill>
                  <a:srgbClr val="1F2933"/>
                </a:solidFill>
                <a:latin typeface="Calibri"/>
                <a:ea typeface="Yu Gothic"/>
                <a:cs typeface="Yu Gothic"/>
              </a:rPr>
              <a:t>1.804</a:t>
            </a:r>
          </a:p>
        </p:txBody>
      </p:sp>
      <p:sp>
        <p:nvSpPr>
          <p:cNvPr id="22" name="TextBox 21"/>
          <p:cNvSpPr txBox="1"/>
          <p:nvPr/>
        </p:nvSpPr>
        <p:spPr>
          <a:xfrm>
            <a:off x="6875373" y="5560822"/>
            <a:ext cx="3713378" cy="292608"/>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未来の負荷が分かっても改善しない</a:t>
            </a:r>
          </a:p>
        </p:txBody>
      </p:sp>
      <p:sp>
        <p:nvSpPr>
          <p:cNvPr id="23" name="TextBox 22"/>
          <p:cNvSpPr txBox="1"/>
          <p:nvPr/>
        </p:nvSpPr>
        <p:spPr>
          <a:xfrm>
            <a:off x="566928" y="6035040"/>
            <a:ext cx="11057839" cy="166687"/>
          </a:xfrm>
          <a:prstGeom prst="rect">
            <a:avLst/>
          </a:prstGeom>
          <a:noFill/>
        </p:spPr>
        <p:txBody>
          <a:bodyPr wrap="square" anchor="t" lIns="0" rIns="0" tIns="0" bIns="0">
            <a:spAutoFit/>
          </a:bodyPr>
          <a:lstStyle/>
          <a:p>
            <a:pPr algn="l" eaLnBrk="1" hangingPunct="1">
              <a:lnSpc>
                <a:spcPct val="125000"/>
              </a:lnSpc>
              <a:spcBef>
                <a:spcPts val="0"/>
              </a:spcBef>
              <a:spcAft>
                <a:spcPts val="0"/>
              </a:spcAft>
            </a:pPr>
            <a:r>
              <a:rPr sz="1050" b="0">
                <a:solidFill>
                  <a:srgbClr val="52606D"/>
                </a:solidFill>
                <a:latin typeface="Calibri"/>
                <a:ea typeface="Yu Gothic"/>
                <a:cs typeface="Yu Gothic"/>
              </a:rPr>
              <a:t>示唆: 本ユースケースのために負荷データ連携を新規構築する投資対効果は低い。外気温など別のデータ取得を優先すべき。</a:t>
            </a:r>
          </a:p>
        </p:txBody>
      </p:sp>
      <p:sp>
        <p:nvSpPr>
          <p:cNvPr id="24" name="TextBox 23"/>
          <p:cNvSpPr txBox="1"/>
          <p:nvPr/>
        </p:nvSpPr>
        <p:spPr>
          <a:xfrm>
            <a:off x="11076127" y="6473952"/>
            <a:ext cx="548640" cy="219456"/>
          </a:xfrm>
          <a:prstGeom prst="rect">
            <a:avLst/>
          </a:prstGeom>
          <a:noFill/>
        </p:spPr>
        <p:txBody>
          <a:bodyPr wrap="square" anchor="t" lIns="0" rIns="0" tIns="0" bIns="0">
            <a:spAutoFit/>
          </a:bodyPr>
          <a:lstStyle/>
          <a:p>
            <a:pPr algn="r" eaLnBrk="1" hangingPunct="1">
              <a:lnSpc>
                <a:spcPct val="130000"/>
              </a:lnSpc>
              <a:spcBef>
                <a:spcPts val="0"/>
              </a:spcBef>
              <a:spcAft>
                <a:spcPts val="0"/>
              </a:spcAft>
            </a:pPr>
            <a:r>
              <a:rPr sz="1000" b="0">
                <a:solidFill>
                  <a:srgbClr val="9AA5B1"/>
                </a:solidFill>
                <a:latin typeface="Calibri"/>
                <a:ea typeface="Yu Gothic"/>
                <a:cs typeface="Yu Gothic"/>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602996" cy="274320"/>
          </a:xfrm>
          <a:prstGeom prst="roundRect">
            <a:avLst>
              <a:gd name="adj" fmla="val 35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150" b="1">
                <a:solidFill>
                  <a:srgbClr val="FFFFFF"/>
                </a:solidFill>
                <a:latin typeface="Calibri"/>
                <a:ea typeface="Yu Gothic"/>
                <a:cs typeface="Yu Gothic"/>
              </a:rPr>
              <a:t>考察</a:t>
            </a:r>
          </a:p>
        </p:txBody>
      </p:sp>
      <p:sp>
        <p:nvSpPr>
          <p:cNvPr id="3" name="TextBox 2"/>
          <p:cNvSpPr txBox="1"/>
          <p:nvPr/>
        </p:nvSpPr>
        <p:spPr>
          <a:xfrm>
            <a:off x="566928" y="786384"/>
            <a:ext cx="11057839" cy="33528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2200" b="1">
                <a:solidFill>
                  <a:srgbClr val="1F2933"/>
                </a:solidFill>
                <a:latin typeface="Calibri"/>
                <a:ea typeface="Yu Gothic"/>
                <a:cs typeface="Yu Gothic"/>
              </a:rPr>
              <a:t>予測が価値を生むのは「変動が大きく、閾値に到達しうる設備」に限られる</a:t>
            </a:r>
          </a:p>
        </p:txBody>
      </p:sp>
      <p:sp>
        <p:nvSpPr>
          <p:cNvPr id="4" name="Rounded Rectangle 3"/>
          <p:cNvSpPr/>
          <p:nvPr/>
        </p:nvSpPr>
        <p:spPr>
          <a:xfrm>
            <a:off x="566928" y="1450848"/>
            <a:ext cx="5364327" cy="1870200"/>
          </a:xfrm>
          <a:prstGeom prst="roundRect">
            <a:avLst>
              <a:gd name="adj" fmla="val 6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86384" y="1670304"/>
            <a:ext cx="4925415" cy="22860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1500" b="1">
                <a:solidFill>
                  <a:srgbClr val="E8833A"/>
                </a:solidFill>
                <a:latin typeface="Calibri"/>
                <a:ea typeface="Yu Gothic"/>
                <a:cs typeface="Yu Gothic"/>
              </a:rPr>
              <a:t>価値が出る条件(ETTh2 型)</a:t>
            </a:r>
          </a:p>
        </p:txBody>
      </p:sp>
      <p:sp>
        <p:nvSpPr>
          <p:cNvPr id="6" name="TextBox 5"/>
          <p:cNvSpPr txBox="1"/>
          <p:nvPr/>
        </p:nvSpPr>
        <p:spPr>
          <a:xfrm>
            <a:off x="786384" y="1990344"/>
            <a:ext cx="4925415" cy="1111248"/>
          </a:xfrm>
          <a:prstGeom prst="rect">
            <a:avLst/>
          </a:prstGeom>
          <a:noFill/>
        </p:spPr>
        <p:txBody>
          <a:bodyPr wrap="square" anchor="t" lIns="0" rIns="0" tIns="0" bIns="0">
            <a:spAutoFit/>
          </a:bodyPr>
          <a:lstStyle/>
          <a:p>
            <a:pPr algn="l" eaLnBrk="1" hangingPunct="1">
              <a:lnSpc>
                <a:spcPct val="135000"/>
              </a:lnSpc>
              <a:spcBef>
                <a:spcPts val="0"/>
              </a:spcBef>
              <a:spcAft>
                <a:spcPts val="500"/>
              </a:spcAft>
            </a:pPr>
            <a:r>
              <a:rPr sz="1250" b="0">
                <a:solidFill>
                  <a:srgbClr val="52606D"/>
                </a:solidFill>
                <a:latin typeface="Calibri"/>
                <a:ea typeface="Yu Gothic"/>
                <a:cs typeface="Yu Gothic"/>
              </a:rPr>
              <a:t>・日内変動が大きい(振幅 5°C 以上)</a:t>
            </a:r>
          </a:p>
          <a:p>
            <a:pPr algn="l" eaLnBrk="1" hangingPunct="1">
              <a:lnSpc>
                <a:spcPct val="135000"/>
              </a:lnSpc>
              <a:spcBef>
                <a:spcPts val="0"/>
              </a:spcBef>
              <a:spcAft>
                <a:spcPts val="500"/>
              </a:spcAft>
            </a:pPr>
            <a:r>
              <a:rPr sz="1250" b="0">
                <a:solidFill>
                  <a:srgbClr val="52606D"/>
                </a:solidFill>
                <a:latin typeface="Calibri"/>
                <a:ea typeface="Yu Gothic"/>
                <a:cs typeface="Yu Gothic"/>
              </a:rPr>
              <a:t>・運用温度が許容閾値に接近している</a:t>
            </a:r>
          </a:p>
          <a:p>
            <a:pPr algn="l" eaLnBrk="1" hangingPunct="1">
              <a:lnSpc>
                <a:spcPct val="135000"/>
              </a:lnSpc>
              <a:spcBef>
                <a:spcPts val="0"/>
              </a:spcBef>
              <a:spcAft>
                <a:spcPts val="500"/>
              </a:spcAft>
            </a:pPr>
            <a:r>
              <a:rPr sz="1250" b="0">
                <a:solidFill>
                  <a:srgbClr val="52606D"/>
                </a:solidFill>
                <a:latin typeface="Calibri"/>
                <a:ea typeface="Yu Gothic"/>
                <a:cs typeface="Yu Gothic"/>
              </a:rPr>
              <a:t>・数時間の予告で打てる手がある(冷却強化・負荷調整)</a:t>
            </a:r>
          </a:p>
          <a:p>
            <a:pPr algn="l" eaLnBrk="1" hangingPunct="1">
              <a:lnSpc>
                <a:spcPct val="135000"/>
              </a:lnSpc>
              <a:spcBef>
                <a:spcPts val="0"/>
              </a:spcBef>
              <a:spcAft>
                <a:spcPts val="500"/>
              </a:spcAft>
            </a:pPr>
            <a:r>
              <a:rPr sz="1250" b="0">
                <a:solidFill>
                  <a:srgbClr val="52606D"/>
                </a:solidFill>
                <a:latin typeface="Calibri"/>
                <a:ea typeface="Yu Gothic"/>
                <a:cs typeface="Yu Gothic"/>
              </a:rPr>
              <a:t>→ 6 時間先予測で検知率 42% → 78%、誤報も 1/4 に減少</a:t>
            </a:r>
          </a:p>
        </p:txBody>
      </p:sp>
      <p:sp>
        <p:nvSpPr>
          <p:cNvPr id="7" name="Rounded Rectangle 6"/>
          <p:cNvSpPr/>
          <p:nvPr/>
        </p:nvSpPr>
        <p:spPr>
          <a:xfrm>
            <a:off x="6260439" y="1450848"/>
            <a:ext cx="5364327" cy="187020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479895" y="1670304"/>
            <a:ext cx="4925415" cy="22860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1500" b="1">
                <a:solidFill>
                  <a:srgbClr val="1F2933"/>
                </a:solidFill>
                <a:latin typeface="Calibri"/>
                <a:ea typeface="Yu Gothic"/>
                <a:cs typeface="Yu Gothic"/>
              </a:rPr>
              <a:t>価値が出にくい条件(ETTh1 型)</a:t>
            </a:r>
          </a:p>
        </p:txBody>
      </p:sp>
      <p:sp>
        <p:nvSpPr>
          <p:cNvPr id="9" name="TextBox 8"/>
          <p:cNvSpPr txBox="1"/>
          <p:nvPr/>
        </p:nvSpPr>
        <p:spPr>
          <a:xfrm>
            <a:off x="6479895" y="1990344"/>
            <a:ext cx="4925415" cy="1111248"/>
          </a:xfrm>
          <a:prstGeom prst="rect">
            <a:avLst/>
          </a:prstGeom>
          <a:noFill/>
        </p:spPr>
        <p:txBody>
          <a:bodyPr wrap="square" anchor="t" lIns="0" rIns="0" tIns="0" bIns="0">
            <a:spAutoFit/>
          </a:bodyPr>
          <a:lstStyle/>
          <a:p>
            <a:pPr algn="l" eaLnBrk="1" hangingPunct="1">
              <a:lnSpc>
                <a:spcPct val="135000"/>
              </a:lnSpc>
              <a:spcBef>
                <a:spcPts val="0"/>
              </a:spcBef>
              <a:spcAft>
                <a:spcPts val="500"/>
              </a:spcAft>
            </a:pPr>
            <a:r>
              <a:rPr sz="1250" b="0">
                <a:solidFill>
                  <a:srgbClr val="52606D"/>
                </a:solidFill>
                <a:latin typeface="Calibri"/>
                <a:ea typeface="Yu Gothic"/>
                <a:cs typeface="Yu Gothic"/>
              </a:rPr>
              <a:t>・短期変動がランダムウォークに近い</a:t>
            </a:r>
          </a:p>
          <a:p>
            <a:pPr algn="l" eaLnBrk="1" hangingPunct="1">
              <a:lnSpc>
                <a:spcPct val="135000"/>
              </a:lnSpc>
              <a:spcBef>
                <a:spcPts val="0"/>
              </a:spcBef>
              <a:spcAft>
                <a:spcPts val="500"/>
              </a:spcAft>
            </a:pPr>
            <a:r>
              <a:rPr sz="1250" b="0">
                <a:solidFill>
                  <a:srgbClr val="52606D"/>
                </a:solidFill>
                <a:latin typeface="Calibri"/>
                <a:ea typeface="Yu Gothic"/>
                <a:cs typeface="Yu Gothic"/>
              </a:rPr>
              <a:t>・温度が閾値から十分離れて推移している</a:t>
            </a:r>
          </a:p>
          <a:p>
            <a:pPr algn="l" eaLnBrk="1" hangingPunct="1">
              <a:lnSpc>
                <a:spcPct val="135000"/>
              </a:lnSpc>
              <a:spcBef>
                <a:spcPts val="0"/>
              </a:spcBef>
              <a:spcAft>
                <a:spcPts val="500"/>
              </a:spcAft>
            </a:pPr>
            <a:r>
              <a:rPr sz="1250" b="0">
                <a:solidFill>
                  <a:srgbClr val="52606D"/>
                </a:solidFill>
                <a:latin typeface="Calibri"/>
                <a:ea typeface="Yu Gothic"/>
                <a:cs typeface="Yu Gothic"/>
              </a:rPr>
              <a:t>・変動幅そのものが小さい(日内 ±1.4°C)</a:t>
            </a:r>
          </a:p>
          <a:p>
            <a:pPr algn="l" eaLnBrk="1" hangingPunct="1">
              <a:lnSpc>
                <a:spcPct val="135000"/>
              </a:lnSpc>
              <a:spcBef>
                <a:spcPts val="0"/>
              </a:spcBef>
              <a:spcAft>
                <a:spcPts val="500"/>
              </a:spcAft>
            </a:pPr>
            <a:r>
              <a:rPr sz="1250" b="0">
                <a:solidFill>
                  <a:srgbClr val="52606D"/>
                </a:solidFill>
                <a:latin typeface="Calibri"/>
                <a:ea typeface="Yu Gothic"/>
                <a:cs typeface="Yu Gothic"/>
              </a:rPr>
              <a:t>→ 改善は 17〜21% にとどまり、高温イベント自体が発生しない</a:t>
            </a:r>
          </a:p>
        </p:txBody>
      </p:sp>
      <p:sp>
        <p:nvSpPr>
          <p:cNvPr id="10" name="TextBox 9"/>
          <p:cNvSpPr txBox="1"/>
          <p:nvPr/>
        </p:nvSpPr>
        <p:spPr>
          <a:xfrm>
            <a:off x="566928" y="3732528"/>
            <a:ext cx="11057839" cy="349249"/>
          </a:xfrm>
          <a:prstGeom prst="rect">
            <a:avLst/>
          </a:prstGeom>
          <a:noFill/>
        </p:spPr>
        <p:txBody>
          <a:bodyPr wrap="square" anchor="t" lIns="0" rIns="0" tIns="0" bIns="0">
            <a:spAutoFit/>
          </a:bodyPr>
          <a:lstStyle/>
          <a:p>
            <a:pPr algn="l" eaLnBrk="1" hangingPunct="1">
              <a:lnSpc>
                <a:spcPct val="130000"/>
              </a:lnSpc>
              <a:spcBef>
                <a:spcPts val="0"/>
              </a:spcBef>
              <a:spcAft>
                <a:spcPts val="800"/>
              </a:spcAft>
            </a:pPr>
            <a:r>
              <a:rPr sz="1500" b="1">
                <a:solidFill>
                  <a:srgbClr val="1F2933"/>
                </a:solidFill>
                <a:latin typeface="Calibri"/>
                <a:ea typeface="Yu Gothic"/>
                <a:cs typeface="Yu Gothic"/>
              </a:rPr>
              <a:t>導入判断の進め方</a:t>
            </a:r>
          </a:p>
        </p:txBody>
      </p:sp>
      <p:sp>
        <p:nvSpPr>
          <p:cNvPr id="11" name="TextBox 10"/>
          <p:cNvSpPr txBox="1"/>
          <p:nvPr/>
        </p:nvSpPr>
        <p:spPr>
          <a:xfrm>
            <a:off x="566928" y="4136641"/>
            <a:ext cx="11057839" cy="509270"/>
          </a:xfrm>
          <a:prstGeom prst="rect">
            <a:avLst/>
          </a:prstGeom>
          <a:noFill/>
        </p:spPr>
        <p:txBody>
          <a:bodyPr wrap="square" anchor="t" lIns="0" rIns="0" tIns="0" bIns="0">
            <a:spAutoFit/>
          </a:bodyPr>
          <a:lstStyle/>
          <a:p>
            <a:pPr algn="l" eaLnBrk="1" hangingPunct="1">
              <a:lnSpc>
                <a:spcPct val="130000"/>
              </a:lnSpc>
              <a:spcBef>
                <a:spcPts val="0"/>
              </a:spcBef>
              <a:spcAft>
                <a:spcPts val="500"/>
              </a:spcAft>
            </a:pPr>
            <a:r>
              <a:rPr sz="1350" b="0">
                <a:solidFill>
                  <a:srgbClr val="52606D"/>
                </a:solidFill>
                <a:latin typeface="Calibri"/>
                <a:ea typeface="Yu Gothic"/>
                <a:cs typeface="Yu Gothic"/>
              </a:rPr>
              <a:t>全設備に一律導入するのではなく、過去データから下記の指標を算出して対象設備をスクリーニングし、価値が見込める設備から段階的に展開することを推奨する。</a:t>
            </a:r>
          </a:p>
        </p:txBody>
      </p:sp>
      <p:sp>
        <p:nvSpPr>
          <p:cNvPr id="12" name="Rounded Rectangle 11"/>
          <p:cNvSpPr/>
          <p:nvPr/>
        </p:nvSpPr>
        <p:spPr>
          <a:xfrm>
            <a:off x="566928" y="4828791"/>
            <a:ext cx="3490874" cy="1235837"/>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86384" y="5048247"/>
            <a:ext cx="3051962" cy="21336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1400" b="1">
                <a:solidFill>
                  <a:srgbClr val="1F2933"/>
                </a:solidFill>
                <a:latin typeface="Calibri"/>
                <a:ea typeface="Yu Gothic"/>
                <a:cs typeface="Yu Gothic"/>
              </a:rPr>
              <a:t>① 日内変動幅</a:t>
            </a:r>
          </a:p>
        </p:txBody>
      </p:sp>
      <p:sp>
        <p:nvSpPr>
          <p:cNvPr id="14" name="TextBox 13"/>
          <p:cNvSpPr txBox="1"/>
          <p:nvPr/>
        </p:nvSpPr>
        <p:spPr>
          <a:xfrm>
            <a:off x="786384" y="5353047"/>
            <a:ext cx="3051962" cy="492125"/>
          </a:xfrm>
          <a:prstGeom prst="rect">
            <a:avLst/>
          </a:prstGeom>
          <a:noFill/>
        </p:spPr>
        <p:txBody>
          <a:bodyPr wrap="square" anchor="t" lIns="0" rIns="0" tIns="0" bIns="0">
            <a:spAutoFit/>
          </a:bodyPr>
          <a:lstStyle/>
          <a:p>
            <a:pPr algn="l" eaLnBrk="1" hangingPunct="1">
              <a:lnSpc>
                <a:spcPct val="135000"/>
              </a:lnSpc>
              <a:spcBef>
                <a:spcPts val="0"/>
              </a:spcBef>
              <a:spcAft>
                <a:spcPts val="500"/>
              </a:spcAft>
            </a:pPr>
            <a:r>
              <a:rPr sz="1250" b="0">
                <a:solidFill>
                  <a:srgbClr val="52606D"/>
                </a:solidFill>
                <a:latin typeface="Calibri"/>
                <a:ea typeface="Yu Gothic"/>
                <a:cs typeface="Yu Gothic"/>
              </a:rPr>
              <a:t>直近 30 日の日内振幅(日最高 − 日最低)の中央値</a:t>
            </a:r>
          </a:p>
        </p:txBody>
      </p:sp>
      <p:sp>
        <p:nvSpPr>
          <p:cNvPr id="15" name="Rounded Rectangle 14"/>
          <p:cNvSpPr/>
          <p:nvPr/>
        </p:nvSpPr>
        <p:spPr>
          <a:xfrm>
            <a:off x="4350410" y="4828791"/>
            <a:ext cx="3490874" cy="1235837"/>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69866" y="5048247"/>
            <a:ext cx="3051962" cy="21336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1400" b="1">
                <a:solidFill>
                  <a:srgbClr val="1F2933"/>
                </a:solidFill>
                <a:latin typeface="Calibri"/>
                <a:ea typeface="Yu Gothic"/>
                <a:cs typeface="Yu Gothic"/>
              </a:rPr>
              <a:t>② 閾値までの余裕</a:t>
            </a:r>
          </a:p>
        </p:txBody>
      </p:sp>
      <p:sp>
        <p:nvSpPr>
          <p:cNvPr id="17" name="TextBox 16"/>
          <p:cNvSpPr txBox="1"/>
          <p:nvPr/>
        </p:nvSpPr>
        <p:spPr>
          <a:xfrm>
            <a:off x="4569866" y="5353047"/>
            <a:ext cx="3051962" cy="492125"/>
          </a:xfrm>
          <a:prstGeom prst="rect">
            <a:avLst/>
          </a:prstGeom>
          <a:noFill/>
        </p:spPr>
        <p:txBody>
          <a:bodyPr wrap="square" anchor="t" lIns="0" rIns="0" tIns="0" bIns="0">
            <a:spAutoFit/>
          </a:bodyPr>
          <a:lstStyle/>
          <a:p>
            <a:pPr algn="l" eaLnBrk="1" hangingPunct="1">
              <a:lnSpc>
                <a:spcPct val="135000"/>
              </a:lnSpc>
              <a:spcBef>
                <a:spcPts val="0"/>
              </a:spcBef>
              <a:spcAft>
                <a:spcPts val="500"/>
              </a:spcAft>
            </a:pPr>
            <a:r>
              <a:rPr sz="1250" b="0">
                <a:solidFill>
                  <a:srgbClr val="52606D"/>
                </a:solidFill>
                <a:latin typeface="Calibri"/>
                <a:ea typeface="Yu Gothic"/>
                <a:cs typeface="Yu Gothic"/>
              </a:rPr>
              <a:t>温度の 95 パーセンタイルと許容温度の差</a:t>
            </a:r>
          </a:p>
        </p:txBody>
      </p:sp>
      <p:sp>
        <p:nvSpPr>
          <p:cNvPr id="18" name="Rounded Rectangle 17"/>
          <p:cNvSpPr/>
          <p:nvPr/>
        </p:nvSpPr>
        <p:spPr>
          <a:xfrm>
            <a:off x="8133892" y="4828791"/>
            <a:ext cx="3490874" cy="1235837"/>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353348" y="5048247"/>
            <a:ext cx="3051962" cy="21336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1400" b="1">
                <a:solidFill>
                  <a:srgbClr val="1F2933"/>
                </a:solidFill>
                <a:latin typeface="Calibri"/>
                <a:ea typeface="Yu Gothic"/>
                <a:cs typeface="Yu Gothic"/>
              </a:rPr>
              <a:t>③ イベント発生頻度</a:t>
            </a:r>
          </a:p>
        </p:txBody>
      </p:sp>
      <p:sp>
        <p:nvSpPr>
          <p:cNvPr id="20" name="TextBox 19"/>
          <p:cNvSpPr txBox="1"/>
          <p:nvPr/>
        </p:nvSpPr>
        <p:spPr>
          <a:xfrm>
            <a:off x="8353348" y="5353047"/>
            <a:ext cx="3051962" cy="492125"/>
          </a:xfrm>
          <a:prstGeom prst="rect">
            <a:avLst/>
          </a:prstGeom>
          <a:noFill/>
        </p:spPr>
        <p:txBody>
          <a:bodyPr wrap="square" anchor="t" lIns="0" rIns="0" tIns="0" bIns="0">
            <a:spAutoFit/>
          </a:bodyPr>
          <a:lstStyle/>
          <a:p>
            <a:pPr algn="l" eaLnBrk="1" hangingPunct="1">
              <a:lnSpc>
                <a:spcPct val="135000"/>
              </a:lnSpc>
              <a:spcBef>
                <a:spcPts val="0"/>
              </a:spcBef>
              <a:spcAft>
                <a:spcPts val="500"/>
              </a:spcAft>
            </a:pPr>
            <a:r>
              <a:rPr sz="1250" b="0">
                <a:solidFill>
                  <a:srgbClr val="52606D"/>
                </a:solidFill>
                <a:latin typeface="Calibri"/>
                <a:ea typeface="Yu Gothic"/>
                <a:cs typeface="Yu Gothic"/>
              </a:rPr>
              <a:t>過去 1 年の閾値超過・急上昇イベントの件数</a:t>
            </a:r>
          </a:p>
        </p:txBody>
      </p:sp>
      <p:sp>
        <p:nvSpPr>
          <p:cNvPr id="21" name="TextBox 20"/>
          <p:cNvSpPr txBox="1"/>
          <p:nvPr/>
        </p:nvSpPr>
        <p:spPr>
          <a:xfrm>
            <a:off x="11076127" y="6473952"/>
            <a:ext cx="548640" cy="219456"/>
          </a:xfrm>
          <a:prstGeom prst="rect">
            <a:avLst/>
          </a:prstGeom>
          <a:noFill/>
        </p:spPr>
        <p:txBody>
          <a:bodyPr wrap="square" anchor="t" lIns="0" rIns="0" tIns="0" bIns="0">
            <a:spAutoFit/>
          </a:bodyPr>
          <a:lstStyle/>
          <a:p>
            <a:pPr algn="r" eaLnBrk="1" hangingPunct="1">
              <a:lnSpc>
                <a:spcPct val="130000"/>
              </a:lnSpc>
              <a:spcBef>
                <a:spcPts val="0"/>
              </a:spcBef>
              <a:spcAft>
                <a:spcPts val="0"/>
              </a:spcAft>
            </a:pPr>
            <a:r>
              <a:rPr sz="1000" b="0">
                <a:solidFill>
                  <a:srgbClr val="9AA5B1"/>
                </a:solidFill>
                <a:latin typeface="Calibri"/>
                <a:ea typeface="Yu Gothic"/>
                <a:cs typeface="Yu Gothic"/>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1041146" cy="274320"/>
          </a:xfrm>
          <a:prstGeom prst="roundRect">
            <a:avLst>
              <a:gd name="adj" fmla="val 35000"/>
            </a:avLst>
          </a:prstGeom>
          <a:solidFill>
            <a:srgbClr val="2F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150" b="1">
                <a:solidFill>
                  <a:srgbClr val="FFFFFF"/>
                </a:solidFill>
                <a:latin typeface="Calibri"/>
                <a:ea typeface="Yu Gothic"/>
                <a:cs typeface="Yu Gothic"/>
              </a:rPr>
              <a:t>限界と今後</a:t>
            </a:r>
          </a:p>
        </p:txBody>
      </p:sp>
      <p:sp>
        <p:nvSpPr>
          <p:cNvPr id="3" name="TextBox 2"/>
          <p:cNvSpPr txBox="1"/>
          <p:nvPr/>
        </p:nvSpPr>
        <p:spPr>
          <a:xfrm>
            <a:off x="566928" y="786384"/>
            <a:ext cx="11057839" cy="33528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2200" b="1">
                <a:solidFill>
                  <a:srgbClr val="1F2933"/>
                </a:solidFill>
                <a:latin typeface="Calibri"/>
                <a:ea typeface="Yu Gothic"/>
                <a:cs typeface="Yu Gothic"/>
              </a:rPr>
              <a:t>現時点の限界は明確であり、それぞれに次の一手を特定できている</a:t>
            </a:r>
          </a:p>
        </p:txBody>
      </p:sp>
      <p:sp>
        <p:nvSpPr>
          <p:cNvPr id="4" name="TextBox 3"/>
          <p:cNvSpPr txBox="1"/>
          <p:nvPr/>
        </p:nvSpPr>
        <p:spPr>
          <a:xfrm>
            <a:off x="603504" y="1450848"/>
            <a:ext cx="2801886" cy="676656"/>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1">
                <a:solidFill>
                  <a:srgbClr val="52606D"/>
                </a:solidFill>
                <a:latin typeface="Calibri"/>
                <a:ea typeface="Yu Gothic"/>
                <a:cs typeface="Yu Gothic"/>
              </a:rPr>
              <a:t>現時点の限界</a:t>
            </a:r>
          </a:p>
        </p:txBody>
      </p:sp>
      <p:sp>
        <p:nvSpPr>
          <p:cNvPr id="5" name="TextBox 4"/>
          <p:cNvSpPr txBox="1"/>
          <p:nvPr/>
        </p:nvSpPr>
        <p:spPr>
          <a:xfrm>
            <a:off x="3478542" y="1450848"/>
            <a:ext cx="3575934" cy="676656"/>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1">
                <a:solidFill>
                  <a:srgbClr val="52606D"/>
                </a:solidFill>
                <a:latin typeface="Calibri"/>
                <a:ea typeface="Yu Gothic"/>
                <a:cs typeface="Yu Gothic"/>
              </a:rPr>
              <a:t>原因の見立て</a:t>
            </a:r>
          </a:p>
        </p:txBody>
      </p:sp>
      <p:sp>
        <p:nvSpPr>
          <p:cNvPr id="6" name="TextBox 5"/>
          <p:cNvSpPr txBox="1"/>
          <p:nvPr/>
        </p:nvSpPr>
        <p:spPr>
          <a:xfrm>
            <a:off x="7127628" y="1450848"/>
            <a:ext cx="4460561" cy="676656"/>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1">
                <a:solidFill>
                  <a:srgbClr val="52606D"/>
                </a:solidFill>
                <a:latin typeface="Calibri"/>
                <a:ea typeface="Yu Gothic"/>
                <a:cs typeface="Yu Gothic"/>
              </a:rPr>
              <a:t>次の一手</a:t>
            </a:r>
          </a:p>
        </p:txBody>
      </p:sp>
      <p:sp>
        <p:nvSpPr>
          <p:cNvPr id="7" name="Rectangle 6"/>
          <p:cNvSpPr/>
          <p:nvPr/>
        </p:nvSpPr>
        <p:spPr>
          <a:xfrm>
            <a:off x="566928" y="2100072"/>
            <a:ext cx="11057839" cy="9525"/>
          </a:xfrm>
          <a:prstGeom prst="rect">
            <a:avLst/>
          </a:prstGeom>
          <a:solidFill>
            <a:srgbClr val="D7DD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03504" y="2127504"/>
            <a:ext cx="2801886" cy="676656"/>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24 時間先は改善しない</a:t>
            </a:r>
          </a:p>
        </p:txBody>
      </p:sp>
      <p:sp>
        <p:nvSpPr>
          <p:cNvPr id="9" name="TextBox 8"/>
          <p:cNvSpPr txBox="1"/>
          <p:nvPr/>
        </p:nvSpPr>
        <p:spPr>
          <a:xfrm>
            <a:off x="3478542" y="2127504"/>
            <a:ext cx="3575934" cy="676656"/>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外気温・日射など未観測の外部要因が支配的</a:t>
            </a:r>
          </a:p>
        </p:txBody>
      </p:sp>
      <p:sp>
        <p:nvSpPr>
          <p:cNvPr id="10" name="TextBox 9"/>
          <p:cNvSpPr txBox="1"/>
          <p:nvPr/>
        </p:nvSpPr>
        <p:spPr>
          <a:xfrm>
            <a:off x="7127628" y="2127504"/>
            <a:ext cx="4460561" cy="676656"/>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気象予報データを特徴量に追加し効果を検証</a:t>
            </a:r>
          </a:p>
        </p:txBody>
      </p:sp>
      <p:sp>
        <p:nvSpPr>
          <p:cNvPr id="11" name="TextBox 10"/>
          <p:cNvSpPr txBox="1"/>
          <p:nvPr/>
        </p:nvSpPr>
        <p:spPr>
          <a:xfrm>
            <a:off x="603504" y="2804160"/>
            <a:ext cx="2801886" cy="676656"/>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点予測のみで警告が決め打ち</a:t>
            </a:r>
          </a:p>
        </p:txBody>
      </p:sp>
      <p:sp>
        <p:nvSpPr>
          <p:cNvPr id="12" name="TextBox 11"/>
          <p:cNvSpPr txBox="1"/>
          <p:nvPr/>
        </p:nvSpPr>
        <p:spPr>
          <a:xfrm>
            <a:off x="3478542" y="2804160"/>
            <a:ext cx="3575934" cy="676656"/>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予測の不確実性を表現していない</a:t>
            </a:r>
          </a:p>
        </p:txBody>
      </p:sp>
      <p:sp>
        <p:nvSpPr>
          <p:cNvPr id="13" name="TextBox 12"/>
          <p:cNvSpPr txBox="1"/>
          <p:nvPr/>
        </p:nvSpPr>
        <p:spPr>
          <a:xfrm>
            <a:off x="7127628" y="2804160"/>
            <a:ext cx="4460561" cy="676656"/>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分位点回帰で超過確率を出力し、誤報と見逃しのコストで閾値を最適化</a:t>
            </a:r>
          </a:p>
        </p:txBody>
      </p:sp>
      <p:sp>
        <p:nvSpPr>
          <p:cNvPr id="14" name="TextBox 13"/>
          <p:cNvSpPr txBox="1"/>
          <p:nvPr/>
        </p:nvSpPr>
        <p:spPr>
          <a:xfrm>
            <a:off x="603504" y="3480816"/>
            <a:ext cx="2801886" cy="676656"/>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閾値・イベント定義が仮置き</a:t>
            </a:r>
          </a:p>
        </p:txBody>
      </p:sp>
      <p:sp>
        <p:nvSpPr>
          <p:cNvPr id="15" name="TextBox 14"/>
          <p:cNvSpPr txBox="1"/>
          <p:nvPr/>
        </p:nvSpPr>
        <p:spPr>
          <a:xfrm>
            <a:off x="3478542" y="3480816"/>
            <a:ext cx="3575934" cy="676656"/>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設備の許容温度や保全規程が未共有</a:t>
            </a:r>
          </a:p>
        </p:txBody>
      </p:sp>
      <p:sp>
        <p:nvSpPr>
          <p:cNvPr id="16" name="TextBox 15"/>
          <p:cNvSpPr txBox="1"/>
          <p:nvPr/>
        </p:nvSpPr>
        <p:spPr>
          <a:xfrm>
            <a:off x="7127628" y="3480816"/>
            <a:ext cx="4460561" cy="676656"/>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実際の警報記録・点検記録と突合して定義を確定</a:t>
            </a:r>
          </a:p>
        </p:txBody>
      </p:sp>
      <p:sp>
        <p:nvSpPr>
          <p:cNvPr id="17" name="TextBox 16"/>
          <p:cNvSpPr txBox="1"/>
          <p:nvPr/>
        </p:nvSpPr>
        <p:spPr>
          <a:xfrm>
            <a:off x="603504" y="4157472"/>
            <a:ext cx="2801886" cy="676656"/>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検証対象が 2 設備のみ</a:t>
            </a:r>
          </a:p>
        </p:txBody>
      </p:sp>
      <p:sp>
        <p:nvSpPr>
          <p:cNvPr id="18" name="TextBox 17"/>
          <p:cNvSpPr txBox="1"/>
          <p:nvPr/>
        </p:nvSpPr>
        <p:spPr>
          <a:xfrm>
            <a:off x="3478542" y="4157472"/>
            <a:ext cx="3575934" cy="676656"/>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設備間の外挿性が未確認</a:t>
            </a:r>
          </a:p>
        </p:txBody>
      </p:sp>
      <p:sp>
        <p:nvSpPr>
          <p:cNvPr id="19" name="TextBox 18"/>
          <p:cNvSpPr txBox="1"/>
          <p:nvPr/>
        </p:nvSpPr>
        <p:spPr>
          <a:xfrm>
            <a:off x="7127628" y="4157472"/>
            <a:ext cx="4460561" cy="676656"/>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複数設備の横断学習と、適用可否のスクリーニング基準を策定</a:t>
            </a:r>
          </a:p>
        </p:txBody>
      </p:sp>
      <p:sp>
        <p:nvSpPr>
          <p:cNvPr id="20" name="TextBox 19"/>
          <p:cNvSpPr txBox="1"/>
          <p:nvPr/>
        </p:nvSpPr>
        <p:spPr>
          <a:xfrm>
            <a:off x="603504" y="4834128"/>
            <a:ext cx="2801886" cy="676656"/>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静的なバックテストのみ</a:t>
            </a:r>
          </a:p>
        </p:txBody>
      </p:sp>
      <p:sp>
        <p:nvSpPr>
          <p:cNvPr id="21" name="TextBox 20"/>
          <p:cNvSpPr txBox="1"/>
          <p:nvPr/>
        </p:nvSpPr>
        <p:spPr>
          <a:xfrm>
            <a:off x="3478542" y="4834128"/>
            <a:ext cx="3575934" cy="676656"/>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運用時のデータドリフトを扱っていない</a:t>
            </a:r>
          </a:p>
        </p:txBody>
      </p:sp>
      <p:sp>
        <p:nvSpPr>
          <p:cNvPr id="22" name="TextBox 21"/>
          <p:cNvSpPr txBox="1"/>
          <p:nvPr/>
        </p:nvSpPr>
        <p:spPr>
          <a:xfrm>
            <a:off x="7127628" y="4834128"/>
            <a:ext cx="4460561" cy="676656"/>
          </a:xfrm>
          <a:prstGeom prst="rect">
            <a:avLst/>
          </a:prstGeom>
          <a:noFill/>
        </p:spPr>
        <p:txBody>
          <a:bodyPr wrap="square" anchor="ctr" lIns="0" rIns="0" tIns="0" bIns="0">
            <a:spAutoFit/>
          </a:bodyPr>
          <a:lstStyle/>
          <a:p>
            <a:pPr algn="l" eaLnBrk="1" hangingPunct="1">
              <a:lnSpc>
                <a:spcPct val="120000"/>
              </a:lnSpc>
              <a:spcBef>
                <a:spcPts val="0"/>
              </a:spcBef>
              <a:spcAft>
                <a:spcPts val="0"/>
              </a:spcAft>
            </a:pPr>
            <a:r>
              <a:rPr sz="1250" b="0">
                <a:solidFill>
                  <a:srgbClr val="1F2933"/>
                </a:solidFill>
                <a:latin typeface="Calibri"/>
                <a:ea typeface="Yu Gothic"/>
                <a:cs typeface="Yu Gothic"/>
              </a:rPr>
              <a:t>ドリフト検知と再学習トリガを含む運用設計</a:t>
            </a:r>
          </a:p>
        </p:txBody>
      </p:sp>
      <p:sp>
        <p:nvSpPr>
          <p:cNvPr id="23" name="TextBox 22"/>
          <p:cNvSpPr txBox="1"/>
          <p:nvPr/>
        </p:nvSpPr>
        <p:spPr>
          <a:xfrm>
            <a:off x="566928" y="6035040"/>
            <a:ext cx="11057839" cy="166687"/>
          </a:xfrm>
          <a:prstGeom prst="rect">
            <a:avLst/>
          </a:prstGeom>
          <a:noFill/>
        </p:spPr>
        <p:txBody>
          <a:bodyPr wrap="square" anchor="t" lIns="0" rIns="0" tIns="0" bIns="0">
            <a:spAutoFit/>
          </a:bodyPr>
          <a:lstStyle/>
          <a:p>
            <a:pPr algn="l" eaLnBrk="1" hangingPunct="1">
              <a:lnSpc>
                <a:spcPct val="125000"/>
              </a:lnSpc>
              <a:spcBef>
                <a:spcPts val="0"/>
              </a:spcBef>
              <a:spcAft>
                <a:spcPts val="0"/>
              </a:spcAft>
            </a:pPr>
            <a:r>
              <a:rPr sz="1050" b="0">
                <a:solidFill>
                  <a:srgbClr val="52606D"/>
                </a:solidFill>
                <a:latin typeface="Calibri"/>
                <a:ea typeface="Yu Gothic"/>
                <a:cs typeface="Yu Gothic"/>
              </a:rPr>
              <a:t>15 分粒度データ(ETTm)と深層学習モデルは本 PoC では未検証。ただし本結果からは、短ホライズンでの大幅な改善は見込みにくい。</a:t>
            </a:r>
          </a:p>
        </p:txBody>
      </p:sp>
      <p:sp>
        <p:nvSpPr>
          <p:cNvPr id="24" name="TextBox 23"/>
          <p:cNvSpPr txBox="1"/>
          <p:nvPr/>
        </p:nvSpPr>
        <p:spPr>
          <a:xfrm>
            <a:off x="11076127" y="6473952"/>
            <a:ext cx="548640" cy="219456"/>
          </a:xfrm>
          <a:prstGeom prst="rect">
            <a:avLst/>
          </a:prstGeom>
          <a:noFill/>
        </p:spPr>
        <p:txBody>
          <a:bodyPr wrap="square" anchor="t" lIns="0" rIns="0" tIns="0" bIns="0">
            <a:spAutoFit/>
          </a:bodyPr>
          <a:lstStyle/>
          <a:p>
            <a:pPr algn="r" eaLnBrk="1" hangingPunct="1">
              <a:lnSpc>
                <a:spcPct val="130000"/>
              </a:lnSpc>
              <a:spcBef>
                <a:spcPts val="0"/>
              </a:spcBef>
              <a:spcAft>
                <a:spcPts val="0"/>
              </a:spcAft>
            </a:pPr>
            <a:r>
              <a:rPr sz="1000" b="0">
                <a:solidFill>
                  <a:srgbClr val="9AA5B1"/>
                </a:solidFill>
                <a:latin typeface="Calibri"/>
                <a:ea typeface="Yu Gothic"/>
                <a:cs typeface="Yu Gothic"/>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868680"/>
            <a:ext cx="1187196" cy="274320"/>
          </a:xfrm>
          <a:prstGeom prst="roundRect">
            <a:avLst>
              <a:gd name="adj" fmla="val 35000"/>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150" b="1">
                <a:solidFill>
                  <a:srgbClr val="FFFFFF"/>
                </a:solidFill>
                <a:latin typeface="Calibri"/>
                <a:ea typeface="Yu Gothic"/>
                <a:cs typeface="Yu Gothic"/>
              </a:rPr>
              <a:t>次のステップ</a:t>
            </a:r>
          </a:p>
        </p:txBody>
      </p:sp>
      <p:sp>
        <p:nvSpPr>
          <p:cNvPr id="4" name="TextBox 3"/>
          <p:cNvSpPr txBox="1"/>
          <p:nvPr/>
        </p:nvSpPr>
        <p:spPr>
          <a:xfrm>
            <a:off x="566928" y="1371600"/>
            <a:ext cx="10515600" cy="91440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3200" b="1">
                <a:solidFill>
                  <a:srgbClr val="FFFFFF"/>
                </a:solidFill>
                <a:latin typeface="Calibri"/>
                <a:ea typeface="Yu Gothic"/>
                <a:cs typeface="Yu Gothic"/>
              </a:rPr>
              <a:t>本 PoC の結論と、次フェーズへの提案</a:t>
            </a:r>
          </a:p>
        </p:txBody>
      </p:sp>
      <p:sp>
        <p:nvSpPr>
          <p:cNvPr id="5" name="Oval 4"/>
          <p:cNvSpPr/>
          <p:nvPr/>
        </p:nvSpPr>
        <p:spPr>
          <a:xfrm>
            <a:off x="566928" y="2743200"/>
            <a:ext cx="420624" cy="420624"/>
          </a:xfrm>
          <a:prstGeom prst="ellips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500" b="1">
                <a:solidFill>
                  <a:srgbClr val="FFFFFF"/>
                </a:solidFill>
                <a:latin typeface="Calibri"/>
                <a:ea typeface="Yu Gothic"/>
                <a:cs typeface="Yu Gothic"/>
              </a:rPr>
              <a:t>1</a:t>
            </a:r>
          </a:p>
        </p:txBody>
      </p:sp>
      <p:sp>
        <p:nvSpPr>
          <p:cNvPr id="6" name="TextBox 5"/>
          <p:cNvSpPr txBox="1"/>
          <p:nvPr/>
        </p:nvSpPr>
        <p:spPr>
          <a:xfrm>
            <a:off x="1243584" y="2724912"/>
            <a:ext cx="10241280" cy="777240"/>
          </a:xfrm>
          <a:prstGeom prst="rect">
            <a:avLst/>
          </a:prstGeom>
          <a:noFill/>
        </p:spPr>
        <p:txBody>
          <a:bodyPr wrap="square" anchor="t" lIns="0" rIns="0" tIns="0" bIns="0">
            <a:spAutoFit/>
          </a:bodyPr>
          <a:lstStyle/>
          <a:p>
            <a:pPr algn="l" eaLnBrk="1" hangingPunct="1">
              <a:lnSpc>
                <a:spcPct val="120000"/>
              </a:lnSpc>
              <a:spcBef>
                <a:spcPts val="0"/>
              </a:spcBef>
              <a:spcAft>
                <a:spcPts val="400"/>
              </a:spcAft>
            </a:pPr>
            <a:r>
              <a:rPr sz="1700" b="1">
                <a:solidFill>
                  <a:srgbClr val="FFFFFF"/>
                </a:solidFill>
                <a:latin typeface="Calibri"/>
                <a:ea typeface="Yu Gothic"/>
                <a:cs typeface="Yu Gothic"/>
              </a:rPr>
              <a:t>対象設備のスクリーニング</a:t>
            </a:r>
          </a:p>
          <a:p>
            <a:pPr algn="l" eaLnBrk="1" hangingPunct="1">
              <a:lnSpc>
                <a:spcPct val="130000"/>
              </a:lnSpc>
              <a:spcBef>
                <a:spcPts val="0"/>
              </a:spcBef>
              <a:spcAft>
                <a:spcPts val="0"/>
              </a:spcAft>
            </a:pPr>
            <a:r>
              <a:rPr sz="1350" b="0">
                <a:solidFill>
                  <a:srgbClr val="9AA5B1"/>
                </a:solidFill>
                <a:latin typeface="Calibri"/>
                <a:ea typeface="Yu Gothic"/>
                <a:cs typeface="Yu Gothic"/>
              </a:rPr>
              <a:t>日内変動幅と閾値までの余裕から、予測が効く設備を全設備データで抽出する(約 2 週間)</a:t>
            </a:r>
          </a:p>
        </p:txBody>
      </p:sp>
      <p:sp>
        <p:nvSpPr>
          <p:cNvPr id="7" name="Oval 6"/>
          <p:cNvSpPr/>
          <p:nvPr/>
        </p:nvSpPr>
        <p:spPr>
          <a:xfrm>
            <a:off x="566928" y="3794760"/>
            <a:ext cx="420624" cy="420624"/>
          </a:xfrm>
          <a:prstGeom prst="ellips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500" b="1">
                <a:solidFill>
                  <a:srgbClr val="FFFFFF"/>
                </a:solidFill>
                <a:latin typeface="Calibri"/>
                <a:ea typeface="Yu Gothic"/>
                <a:cs typeface="Yu Gothic"/>
              </a:rPr>
              <a:t>2</a:t>
            </a:r>
          </a:p>
        </p:txBody>
      </p:sp>
      <p:sp>
        <p:nvSpPr>
          <p:cNvPr id="8" name="TextBox 7"/>
          <p:cNvSpPr txBox="1"/>
          <p:nvPr/>
        </p:nvSpPr>
        <p:spPr>
          <a:xfrm>
            <a:off x="1243584" y="3776472"/>
            <a:ext cx="10241280" cy="777240"/>
          </a:xfrm>
          <a:prstGeom prst="rect">
            <a:avLst/>
          </a:prstGeom>
          <a:noFill/>
        </p:spPr>
        <p:txBody>
          <a:bodyPr wrap="square" anchor="t" lIns="0" rIns="0" tIns="0" bIns="0">
            <a:spAutoFit/>
          </a:bodyPr>
          <a:lstStyle/>
          <a:p>
            <a:pPr algn="l" eaLnBrk="1" hangingPunct="1">
              <a:lnSpc>
                <a:spcPct val="120000"/>
              </a:lnSpc>
              <a:spcBef>
                <a:spcPts val="0"/>
              </a:spcBef>
              <a:spcAft>
                <a:spcPts val="400"/>
              </a:spcAft>
            </a:pPr>
            <a:r>
              <a:rPr sz="1700" b="1">
                <a:solidFill>
                  <a:srgbClr val="FFFFFF"/>
                </a:solidFill>
                <a:latin typeface="Calibri"/>
                <a:ea typeface="Yu Gothic"/>
                <a:cs typeface="Yu Gothic"/>
              </a:rPr>
              <a:t>気象データ統合の効果検証</a:t>
            </a:r>
          </a:p>
          <a:p>
            <a:pPr algn="l" eaLnBrk="1" hangingPunct="1">
              <a:lnSpc>
                <a:spcPct val="130000"/>
              </a:lnSpc>
              <a:spcBef>
                <a:spcPts val="0"/>
              </a:spcBef>
              <a:spcAft>
                <a:spcPts val="0"/>
              </a:spcAft>
            </a:pPr>
            <a:r>
              <a:rPr sz="1350" b="0">
                <a:solidFill>
                  <a:srgbClr val="9AA5B1"/>
                </a:solidFill>
                <a:latin typeface="Calibri"/>
                <a:ea typeface="Yu Gothic"/>
                <a:cs typeface="Yu Gothic"/>
              </a:rPr>
              <a:t>外気温・日射を加え、24 時間先の改善余地を定量化する(約 3 週間)</a:t>
            </a:r>
          </a:p>
        </p:txBody>
      </p:sp>
      <p:sp>
        <p:nvSpPr>
          <p:cNvPr id="9" name="Oval 8"/>
          <p:cNvSpPr/>
          <p:nvPr/>
        </p:nvSpPr>
        <p:spPr>
          <a:xfrm>
            <a:off x="566928" y="4846320"/>
            <a:ext cx="420624" cy="420624"/>
          </a:xfrm>
          <a:prstGeom prst="ellips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500" b="1">
                <a:solidFill>
                  <a:srgbClr val="FFFFFF"/>
                </a:solidFill>
                <a:latin typeface="Calibri"/>
                <a:ea typeface="Yu Gothic"/>
                <a:cs typeface="Yu Gothic"/>
              </a:rPr>
              <a:t>3</a:t>
            </a:r>
          </a:p>
        </p:txBody>
      </p:sp>
      <p:sp>
        <p:nvSpPr>
          <p:cNvPr id="10" name="TextBox 9"/>
          <p:cNvSpPr txBox="1"/>
          <p:nvPr/>
        </p:nvSpPr>
        <p:spPr>
          <a:xfrm>
            <a:off x="1243584" y="4828032"/>
            <a:ext cx="10241280" cy="777240"/>
          </a:xfrm>
          <a:prstGeom prst="rect">
            <a:avLst/>
          </a:prstGeom>
          <a:noFill/>
        </p:spPr>
        <p:txBody>
          <a:bodyPr wrap="square" anchor="t" lIns="0" rIns="0" tIns="0" bIns="0">
            <a:spAutoFit/>
          </a:bodyPr>
          <a:lstStyle/>
          <a:p>
            <a:pPr algn="l" eaLnBrk="1" hangingPunct="1">
              <a:lnSpc>
                <a:spcPct val="120000"/>
              </a:lnSpc>
              <a:spcBef>
                <a:spcPts val="0"/>
              </a:spcBef>
              <a:spcAft>
                <a:spcPts val="400"/>
              </a:spcAft>
            </a:pPr>
            <a:r>
              <a:rPr sz="1700" b="1">
                <a:solidFill>
                  <a:srgbClr val="FFFFFF"/>
                </a:solidFill>
                <a:latin typeface="Calibri"/>
                <a:ea typeface="Yu Gothic"/>
                <a:cs typeface="Yu Gothic"/>
              </a:rPr>
              <a:t>警告ルールの運用設計</a:t>
            </a:r>
          </a:p>
          <a:p>
            <a:pPr algn="l" eaLnBrk="1" hangingPunct="1">
              <a:lnSpc>
                <a:spcPct val="130000"/>
              </a:lnSpc>
              <a:spcBef>
                <a:spcPts val="0"/>
              </a:spcBef>
              <a:spcAft>
                <a:spcPts val="0"/>
              </a:spcAft>
            </a:pPr>
            <a:r>
              <a:rPr sz="1350" b="0">
                <a:solidFill>
                  <a:srgbClr val="9AA5B1"/>
                </a:solidFill>
                <a:latin typeface="Calibri"/>
                <a:ea typeface="Yu Gothic"/>
                <a:cs typeface="Yu Gothic"/>
              </a:rPr>
              <a:t>誤報・見逃しのコストを現場とすり合わせ、確率予測に基づく警告ルールを設計する(約 3 週間)</a:t>
            </a:r>
          </a:p>
        </p:txBody>
      </p:sp>
      <p:sp>
        <p:nvSpPr>
          <p:cNvPr id="11" name="TextBox 10"/>
          <p:cNvSpPr txBox="1"/>
          <p:nvPr/>
        </p:nvSpPr>
        <p:spPr>
          <a:xfrm>
            <a:off x="566928" y="6035040"/>
            <a:ext cx="10515600" cy="320040"/>
          </a:xfrm>
          <a:prstGeom prst="rect">
            <a:avLst/>
          </a:prstGeom>
          <a:noFill/>
        </p:spPr>
        <p:txBody>
          <a:bodyPr wrap="square" anchor="t" lIns="0" rIns="0" tIns="0" bIns="0">
            <a:spAutoFit/>
          </a:bodyPr>
          <a:lstStyle/>
          <a:p>
            <a:pPr algn="l" eaLnBrk="1" hangingPunct="1">
              <a:lnSpc>
                <a:spcPct val="130000"/>
              </a:lnSpc>
              <a:spcBef>
                <a:spcPts val="0"/>
              </a:spcBef>
              <a:spcAft>
                <a:spcPts val="0"/>
              </a:spcAft>
            </a:pPr>
            <a:r>
              <a:rPr sz="1250" b="0">
                <a:solidFill>
                  <a:srgbClr val="9AA5B1"/>
                </a:solidFill>
                <a:latin typeface="Calibri"/>
                <a:ea typeface="Yu Gothic"/>
                <a:cs typeface="Yu Gothic"/>
              </a:rPr>
              <a:t>実装コード・検証ノートブック一式は GitHub リポジトリを参照</a:t>
            </a:r>
          </a:p>
        </p:txBody>
      </p:sp>
      <p:sp>
        <p:nvSpPr>
          <p:cNvPr id="12" name="TextBox 11"/>
          <p:cNvSpPr txBox="1"/>
          <p:nvPr/>
        </p:nvSpPr>
        <p:spPr>
          <a:xfrm>
            <a:off x="11076127" y="6473952"/>
            <a:ext cx="548640" cy="219456"/>
          </a:xfrm>
          <a:prstGeom prst="rect">
            <a:avLst/>
          </a:prstGeom>
          <a:noFill/>
        </p:spPr>
        <p:txBody>
          <a:bodyPr wrap="square" anchor="t" lIns="0" rIns="0" tIns="0" bIns="0">
            <a:spAutoFit/>
          </a:bodyPr>
          <a:lstStyle/>
          <a:p>
            <a:pPr algn="r" eaLnBrk="1" hangingPunct="1">
              <a:lnSpc>
                <a:spcPct val="130000"/>
              </a:lnSpc>
              <a:spcBef>
                <a:spcPts val="0"/>
              </a:spcBef>
              <a:spcAft>
                <a:spcPts val="0"/>
              </a:spcAft>
            </a:pPr>
            <a:r>
              <a:rPr sz="1000" b="0">
                <a:solidFill>
                  <a:srgbClr val="9AA5B1"/>
                </a:solidFill>
                <a:latin typeface="Calibri"/>
                <a:ea typeface="Yu Gothic"/>
                <a:cs typeface="Yu Gothic"/>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953516" cy="274320"/>
          </a:xfrm>
          <a:prstGeom prst="roundRect">
            <a:avLst>
              <a:gd name="adj" fmla="val 35000"/>
            </a:avLst>
          </a:prstGeom>
          <a:solidFill>
            <a:srgbClr val="5260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30000"/>
              </a:lnSpc>
              <a:spcBef>
                <a:spcPts val="0"/>
              </a:spcBef>
              <a:spcAft>
                <a:spcPts val="0"/>
              </a:spcAft>
            </a:pPr>
            <a:r>
              <a:rPr sz="1150" b="1">
                <a:solidFill>
                  <a:srgbClr val="FFFFFF"/>
                </a:solidFill>
                <a:latin typeface="Calibri"/>
                <a:ea typeface="Yu Gothic"/>
                <a:cs typeface="Yu Gothic"/>
              </a:rPr>
              <a:t>Appendix</a:t>
            </a:r>
          </a:p>
        </p:txBody>
      </p:sp>
      <p:sp>
        <p:nvSpPr>
          <p:cNvPr id="3" name="TextBox 2"/>
          <p:cNvSpPr txBox="1"/>
          <p:nvPr/>
        </p:nvSpPr>
        <p:spPr>
          <a:xfrm>
            <a:off x="566928" y="786384"/>
            <a:ext cx="11057839" cy="335280"/>
          </a:xfrm>
          <a:prstGeom prst="rect">
            <a:avLst/>
          </a:prstGeom>
          <a:noFill/>
        </p:spPr>
        <p:txBody>
          <a:bodyPr wrap="square" anchor="t" lIns="0" rIns="0" tIns="0" bIns="0">
            <a:spAutoFit/>
          </a:bodyPr>
          <a:lstStyle/>
          <a:p>
            <a:pPr algn="l" eaLnBrk="1" hangingPunct="1">
              <a:lnSpc>
                <a:spcPct val="120000"/>
              </a:lnSpc>
              <a:spcBef>
                <a:spcPts val="0"/>
              </a:spcBef>
              <a:spcAft>
                <a:spcPts val="0"/>
              </a:spcAft>
            </a:pPr>
            <a:r>
              <a:rPr sz="2200" b="1">
                <a:solidFill>
                  <a:srgbClr val="1F2933"/>
                </a:solidFill>
                <a:latin typeface="Calibri"/>
                <a:ea typeface="Yu Gothic"/>
                <a:cs typeface="Yu Gothic"/>
              </a:rPr>
              <a:t>ETTh2 の改善は高温期(5〜9 月)を含む通年で維持されている</a:t>
            </a:r>
          </a:p>
        </p:txBody>
      </p:sp>
      <p:pic>
        <p:nvPicPr>
          <p:cNvPr id="4" name="Picture 3" descr="slide_mae_by_month.png"/>
          <p:cNvPicPr>
            <a:picLocks noChangeAspect="1"/>
          </p:cNvPicPr>
          <p:nvPr/>
        </p:nvPicPr>
        <p:blipFill>
          <a:blip r:embed="rId2"/>
          <a:stretch>
            <a:fillRect/>
          </a:stretch>
        </p:blipFill>
        <p:spPr>
          <a:xfrm>
            <a:off x="2125042" y="1633728"/>
            <a:ext cx="7941610" cy="2926080"/>
          </a:xfrm>
          <a:prstGeom prst="rect">
            <a:avLst/>
          </a:prstGeom>
        </p:spPr>
      </p:pic>
      <p:sp>
        <p:nvSpPr>
          <p:cNvPr id="5" name="TextBox 4"/>
          <p:cNvSpPr txBox="1"/>
          <p:nvPr/>
        </p:nvSpPr>
        <p:spPr>
          <a:xfrm>
            <a:off x="566928" y="4925568"/>
            <a:ext cx="11057839" cy="286385"/>
          </a:xfrm>
          <a:prstGeom prst="rect">
            <a:avLst/>
          </a:prstGeom>
          <a:noFill/>
        </p:spPr>
        <p:txBody>
          <a:bodyPr wrap="square" anchor="t" lIns="0" rIns="0" tIns="0" bIns="0">
            <a:spAutoFit/>
          </a:bodyPr>
          <a:lstStyle/>
          <a:p>
            <a:pPr algn="l" eaLnBrk="1" hangingPunct="1">
              <a:lnSpc>
                <a:spcPct val="130000"/>
              </a:lnSpc>
              <a:spcBef>
                <a:spcPts val="0"/>
              </a:spcBef>
              <a:spcAft>
                <a:spcPts val="500"/>
              </a:spcAft>
            </a:pPr>
            <a:r>
              <a:rPr sz="1350" b="0">
                <a:solidFill>
                  <a:srgbClr val="1F2933"/>
                </a:solidFill>
                <a:latin typeface="Calibri"/>
                <a:ea typeface="Yu Gothic"/>
                <a:cs typeface="Yu Gothic"/>
              </a:rPr>
              <a:t>6 時間先 MAE の月別推移。ETTh2 では夏季に現状相当の誤差が跳ね上がるのに対し、本手法は通年で安定している。</a:t>
            </a:r>
          </a:p>
        </p:txBody>
      </p:sp>
      <p:sp>
        <p:nvSpPr>
          <p:cNvPr id="6" name="TextBox 5"/>
          <p:cNvSpPr txBox="1"/>
          <p:nvPr/>
        </p:nvSpPr>
        <p:spPr>
          <a:xfrm>
            <a:off x="566928" y="6035040"/>
            <a:ext cx="11057839" cy="166687"/>
          </a:xfrm>
          <a:prstGeom prst="rect">
            <a:avLst/>
          </a:prstGeom>
          <a:noFill/>
        </p:spPr>
        <p:txBody>
          <a:bodyPr wrap="square" anchor="t" lIns="0" rIns="0" tIns="0" bIns="0">
            <a:spAutoFit/>
          </a:bodyPr>
          <a:lstStyle/>
          <a:p>
            <a:pPr algn="l" eaLnBrk="1" hangingPunct="1">
              <a:lnSpc>
                <a:spcPct val="125000"/>
              </a:lnSpc>
              <a:spcBef>
                <a:spcPts val="0"/>
              </a:spcBef>
              <a:spcAft>
                <a:spcPts val="0"/>
              </a:spcAft>
            </a:pPr>
            <a:r>
              <a:rPr sz="1050" b="0">
                <a:solidFill>
                  <a:srgbClr val="52606D"/>
                </a:solidFill>
                <a:latin typeface="Calibri"/>
                <a:ea typeface="Yu Gothic"/>
                <a:cs typeface="Yu Gothic"/>
              </a:rPr>
              <a:t>データ出典: Zhou et al., Informer, AAAI 2021 / github.com/zhouhaoyi/ETDataset(追加データの使用なし)</a:t>
            </a:r>
          </a:p>
        </p:txBody>
      </p:sp>
      <p:sp>
        <p:nvSpPr>
          <p:cNvPr id="7" name="TextBox 6"/>
          <p:cNvSpPr txBox="1"/>
          <p:nvPr/>
        </p:nvSpPr>
        <p:spPr>
          <a:xfrm>
            <a:off x="11076127" y="6473952"/>
            <a:ext cx="548640" cy="219456"/>
          </a:xfrm>
          <a:prstGeom prst="rect">
            <a:avLst/>
          </a:prstGeom>
          <a:noFill/>
        </p:spPr>
        <p:txBody>
          <a:bodyPr wrap="square" anchor="t" lIns="0" rIns="0" tIns="0" bIns="0">
            <a:spAutoFit/>
          </a:bodyPr>
          <a:lstStyle/>
          <a:p>
            <a:pPr algn="r" eaLnBrk="1" hangingPunct="1">
              <a:lnSpc>
                <a:spcPct val="130000"/>
              </a:lnSpc>
              <a:spcBef>
                <a:spcPts val="0"/>
              </a:spcBef>
              <a:spcAft>
                <a:spcPts val="0"/>
              </a:spcAft>
            </a:pPr>
            <a:r>
              <a:rPr sz="1000" b="0">
                <a:solidFill>
                  <a:srgbClr val="9AA5B1"/>
                </a:solidFill>
                <a:latin typeface="Calibri"/>
                <a:ea typeface="Yu Gothic"/>
                <a:cs typeface="Yu Gothic"/>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